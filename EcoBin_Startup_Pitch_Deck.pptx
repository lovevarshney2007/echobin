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94360"/>
            <a:ext cx="6492240" cy="5669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777240"/>
            <a:ext cx="585216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850" b="1">
                <a:solidFill>
                  <a:srgbClr val="005B34"/>
                </a:solidFill>
                <a:latin typeface="Arial"/>
              </a:defRPr>
            </a:pPr>
            <a:r>
              <a:t>DECENTRALIZED CLIMATE INFRASTRUCTURE • EXECUTIVE PITCH</a:t>
            </a:r>
          </a:p>
          <a:p>
            <a:pPr>
              <a:spcAft>
                <a:spcPts val="200"/>
              </a:spcAft>
              <a:defRPr sz="4600" b="1">
                <a:solidFill>
                  <a:srgbClr val="005B34"/>
                </a:solidFill>
                <a:latin typeface="Arial"/>
              </a:defRPr>
            </a:pPr>
            <a:r>
              <a:t>EcoBin</a:t>
            </a:r>
          </a:p>
          <a:p>
            <a:pPr>
              <a:spcAft>
                <a:spcPts val="800"/>
              </a:spcAft>
              <a:defRPr sz="1700" b="1">
                <a:solidFill>
                  <a:srgbClr val="1A1C1B"/>
                </a:solidFill>
                <a:latin typeface="Arial"/>
              </a:defRPr>
            </a:pPr>
            <a:r>
              <a:t>"Throw Waste. Create Energy."</a:t>
            </a:r>
          </a:p>
          <a:p>
            <a:pPr>
              <a:spcAft>
                <a:spcPts val="1200"/>
              </a:spcAft>
              <a:defRPr sz="1000">
                <a:solidFill>
                  <a:srgbClr val="555C5A"/>
                </a:solidFill>
                <a:latin typeface="Arial"/>
              </a:defRPr>
            </a:pPr>
            <a:r>
              <a:t>Autonomous edge-AI source-segregation and closed-loop anaerobic bio-digestion converting organic food waste into on-site cooking energy and high-purity industrial recyclables.</a:t>
            </a:r>
          </a:p>
          <a:p>
            <a:pPr>
              <a:spcAft>
                <a:spcPts val="400"/>
              </a:spcAft>
              <a:defRPr sz="850">
                <a:solidFill>
                  <a:srgbClr val="1A1C1B"/>
                </a:solidFill>
                <a:latin typeface="Arial"/>
              </a:defRPr>
            </a:pPr>
            <a:r>
              <a:t>⚡ In-Situ Food Waste Conversion: Produces clean cooking biogas (CH4) directly at source, displacing 25–30 commercial LPG cylinders/mo per mess.</a:t>
            </a:r>
          </a:p>
          <a:p>
            <a:pPr>
              <a:spcAft>
                <a:spcPts val="400"/>
              </a:spcAft>
              <a:defRPr sz="850">
                <a:solidFill>
                  <a:srgbClr val="1A1C1B"/>
                </a:solidFill>
                <a:latin typeface="Arial"/>
              </a:defRPr>
            </a:pPr>
            <a:r>
              <a:t>🤖 Machine Vision Segregation (&lt;150ms): Embedded ESP32-S3 AI model classifies waste with &gt;98% precision before grease touches recyclables.</a:t>
            </a:r>
          </a:p>
          <a:p>
            <a:pPr>
              <a:spcAft>
                <a:spcPts val="400"/>
              </a:spcAft>
              <a:defRPr sz="850">
                <a:solidFill>
                  <a:srgbClr val="1A1C1B"/>
                </a:solidFill>
                <a:latin typeface="Arial"/>
              </a:defRPr>
            </a:pPr>
            <a:r>
              <a:t>💰 Slashing Municipal Haulage Expense: Diverts 60% of bulk hauling volume on-site, saving institutions over Rs. 1,00,000 net monthly cash.</a:t>
            </a:r>
          </a:p>
          <a:p>
            <a:pPr>
              <a:spcAft>
                <a:spcPts val="400"/>
              </a:spcAft>
              <a:defRPr sz="850">
                <a:solidFill>
                  <a:srgbClr val="1A1C1B"/>
                </a:solidFill>
                <a:latin typeface="Arial"/>
              </a:defRPr>
            </a:pPr>
            <a:r>
              <a:t>📜 Regulatory SWM 2016 Immunity: Full legal compliance for Bulk Waste Generators (&gt;100 kg/day) avoiding Rs. 50,000 NGT penalty notices.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50" b="1">
                <a:solidFill>
                  <a:srgbClr val="555C5A"/>
                </a:solidFill>
                <a:latin typeface="Arial"/>
              </a:defRPr>
            </a:pPr>
            <a:r>
              <a:t>SYSTEMS ARCHITECTURE &amp; R&amp;D BASE</a:t>
            </a:r>
          </a:p>
          <a:p>
            <a:pPr>
              <a:defRPr sz="880" b="1">
                <a:solidFill>
                  <a:srgbClr val="1A1C1B"/>
                </a:solidFill>
                <a:latin typeface="Arial"/>
              </a:defRPr>
            </a:pPr>
            <a:r>
              <a:t>Embedded Edge-AI Vision • Firmware Systems • Anaerobic Bio-Process Engineering</a:t>
            </a:r>
            <a:br/>
            <a:r>
              <a:t>Operational Living Lab Testbeds Validated Across Higher-Ed Campuses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1560" y="5257800"/>
            <a:ext cx="5852160" cy="777240"/>
          </a:xfrm>
          <a:prstGeom prst="roundRect">
            <a:avLst>
              <a:gd name="adj" fmla="val 3500"/>
            </a:avLst>
          </a:prstGeom>
          <a:solidFill>
            <a:srgbClr val="ECF8F1"/>
          </a:solidFill>
          <a:ln w="12700">
            <a:solidFill>
              <a:srgbClr val="80D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5303520"/>
            <a:ext cx="557784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005B34"/>
                </a:solidFill>
                <a:latin typeface="Arial"/>
              </a:defRPr>
            </a:pPr>
            <a:r>
              <a:t>OFFICIAL PORTAL &amp; STATUS</a:t>
            </a:r>
          </a:p>
          <a:p>
            <a:pPr>
              <a:defRPr sz="900" b="1">
                <a:solidFill>
                  <a:srgbClr val="1A1C1B"/>
                </a:solidFill>
                <a:latin typeface="Arial"/>
              </a:defRPr>
            </a:pPr>
            <a:r>
              <a:t>Official Website: https://echobin.vercel.app  •  Status: Live Operational Testbed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594360"/>
            <a:ext cx="4053535" cy="5669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mart_no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822960"/>
            <a:ext cx="3687775" cy="368777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89520" y="4754880"/>
            <a:ext cx="3687775" cy="1280160"/>
          </a:xfrm>
          <a:prstGeom prst="roundRect">
            <a:avLst>
              <a:gd name="adj" fmla="val 3500"/>
            </a:avLst>
          </a:prstGeom>
          <a:solidFill>
            <a:srgbClr val="ECF8F1"/>
          </a:solidFill>
          <a:ln w="12700">
            <a:solidFill>
              <a:srgbClr val="80D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99248" y="4828032"/>
            <a:ext cx="347472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05B34"/>
                </a:solidFill>
                <a:latin typeface="Arial"/>
              </a:defRPr>
            </a:pPr>
            <a:r>
              <a:t>ECOBIN AUTONOMOUS SEGREGATION NODE</a:t>
            </a:r>
          </a:p>
          <a:p>
            <a:pPr>
              <a:defRPr sz="780">
                <a:solidFill>
                  <a:srgbClr val="1A1C1B"/>
                </a:solidFill>
                <a:latin typeface="Arial"/>
              </a:defRPr>
            </a:pPr>
            <a:r>
              <a:t>Smart edge sorting node featuring ESP32-S3 machine vision, multi-sensor dielectric inspection, and high-speed mechanical diverter. Deployed at source to capture organic energy and preserve recyclable value.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9184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05B34"/>
                </a:solidFill>
                <a:latin typeface="Arial"/>
              </a:defRPr>
            </a:pPr>
            <a:r>
              <a:t>THE OPERATIONAL REALITY &amp; ENVIRONMENTAL CRISIS</a:t>
            </a:r>
          </a:p>
          <a:p>
            <a:pPr>
              <a:spcAft>
                <a:spcPts val="200"/>
              </a:spcAft>
              <a:defRPr sz="1900" b="1">
                <a:solidFill>
                  <a:srgbClr val="1A1C1B"/>
                </a:solidFill>
                <a:latin typeface="Arial"/>
              </a:defRPr>
            </a:pPr>
            <a:r>
              <a:t>Unsegregated Waste Drives Crushing Logistics Overhead and Environmental Decay</a:t>
            </a:r>
          </a:p>
          <a:p>
            <a:pPr>
              <a:defRPr sz="950">
                <a:solidFill>
                  <a:srgbClr val="555C5A"/>
                </a:solidFill>
                <a:latin typeface="Arial"/>
              </a:defRPr>
            </a:pPr>
            <a:r>
              <a:t>Human sorting systematically fails at source, destroying recyclable value and fueling diesel haulage expenditures.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4572000" cy="24231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overflowing_waste_p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4389120" cy="1874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3447288"/>
            <a:ext cx="42976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>
                <a:solidFill>
                  <a:srgbClr val="555C5A"/>
                </a:solidFill>
                <a:latin typeface="Arial"/>
              </a:defRPr>
            </a:pPr>
            <a:r>
              <a:t>Overflowing Community Waste Pit: Wet organic scraps mixed with plastics ruin recycling batches.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4572000" cy="2377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andfill_crisi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023360"/>
            <a:ext cx="4389120" cy="1828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5907024"/>
            <a:ext cx="4297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005B34"/>
                </a:solidFill>
                <a:latin typeface="Arial"/>
              </a:defRPr>
            </a:pPr>
            <a:r>
              <a:t>CPCB Official Report: &gt;150,000 MT MSW discarded daily in India; &gt;50% wet food scraps rotting in open dumps.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1417320"/>
            <a:ext cx="5973775" cy="117043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0" y="1417320"/>
            <a:ext cx="109728" cy="1170432"/>
          </a:xfrm>
          <a:prstGeom prst="rect">
            <a:avLst/>
          </a:prstGeom>
          <a:solidFill>
            <a:srgbClr val="B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87568" y="1472184"/>
            <a:ext cx="5669280" cy="107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BA1A1A"/>
                </a:solidFill>
                <a:latin typeface="Arial"/>
              </a:defRPr>
            </a:pPr>
            <a:r>
              <a:t>1. THE CORE PROBLEM: MIXED DISPOSAL &amp; HUMAN SORTING FAILURE</a:t>
            </a:r>
          </a:p>
          <a:p>
            <a:pPr>
              <a:spcAft>
                <a:spcPts val="200"/>
              </a:spcAft>
              <a:defRPr sz="730">
                <a:solidFill>
                  <a:srgbClr val="1A1C1B"/>
                </a:solidFill>
                <a:latin typeface="Arial"/>
              </a:defRPr>
            </a:pPr>
            <a:r>
              <a:t>• Manual 2-bin segregation fails &gt;40% of the time across hostels, canteens, and residential towers.</a:t>
            </a:r>
            <a:br/>
            <a:r>
              <a:t>• Curry, oil &amp; food moisture permanently destroys 80%+ of paper and plastic recyclable market value.</a:t>
            </a:r>
            <a:br/>
            <a:r>
              <a:t>• Stray mixed plastics choke conventional anaerobic digesters and ruin communal composting batches.</a:t>
            </a:r>
          </a:p>
          <a:p>
            <a:pPr>
              <a:defRPr sz="740" b="1">
                <a:solidFill>
                  <a:srgbClr val="BA1A1A"/>
                </a:solidFill>
                <a:latin typeface="Arial"/>
              </a:defRPr>
            </a:pPr>
            <a:r>
              <a:t>🚨 Critical Breakdown: 40%+ Human Error Rate Ruins Recyclable Streams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2651760"/>
            <a:ext cx="5973775" cy="117043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2651760"/>
            <a:ext cx="109728" cy="117043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87568" y="2706624"/>
            <a:ext cx="5669280" cy="107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B45309"/>
                </a:solidFill>
                <a:latin typeface="Arial"/>
              </a:defRPr>
            </a:pPr>
            <a:r>
              <a:t>2. WHY IT MATTERS: DIESEL HAULAGE OVERHEAD &amp; MUNICIPAL EXPENSE</a:t>
            </a:r>
          </a:p>
          <a:p>
            <a:pPr>
              <a:spcAft>
                <a:spcPts val="200"/>
              </a:spcAft>
              <a:defRPr sz="730">
                <a:solidFill>
                  <a:srgbClr val="1A1C1B"/>
                </a:solidFill>
                <a:latin typeface="Arial"/>
              </a:defRPr>
            </a:pPr>
            <a:r>
              <a:t>• Cities and institutions squander 50% to 70% of waste management budgets simply hauling water.</a:t>
            </a:r>
            <a:br/>
            <a:r>
              <a:t>• Food waste comprises 70% water weight; diesel trucks burn fuel transporting heavy moisture 30+ km away.</a:t>
            </a:r>
            <a:br/>
            <a:r>
              <a:t>• Mandatory Solid Waste Management Rules 2016 impose up to Rs. 50,000 NGT fines for non-compliance.</a:t>
            </a:r>
          </a:p>
          <a:p>
            <a:pPr>
              <a:defRPr sz="740" b="1">
                <a:solidFill>
                  <a:srgbClr val="B45309"/>
                </a:solidFill>
                <a:latin typeface="Arial"/>
              </a:defRPr>
            </a:pPr>
            <a:r>
              <a:t>💸 Crushing Expense: 50%–70% Budget Squandered on Diesel Fleet Logistics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0" y="3886200"/>
            <a:ext cx="5973775" cy="117043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3886200"/>
            <a:ext cx="109728" cy="1170432"/>
          </a:xfrm>
          <a:prstGeom prst="rect">
            <a:avLst/>
          </a:prstGeom>
          <a:solidFill>
            <a:srgbClr val="005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87568" y="3941063"/>
            <a:ext cx="5669280" cy="107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05B34"/>
                </a:solidFill>
                <a:latin typeface="Arial"/>
              </a:defRPr>
            </a:pPr>
            <a:r>
              <a:t>3. WHO IS AFFECTED: CRITICAL ECONOMIC STAKEHOLDERS</a:t>
            </a:r>
          </a:p>
          <a:p>
            <a:pPr>
              <a:spcAft>
                <a:spcPts val="200"/>
              </a:spcAft>
              <a:defRPr sz="730">
                <a:solidFill>
                  <a:srgbClr val="1A1C1B"/>
                </a:solidFill>
                <a:latin typeface="Arial"/>
              </a:defRPr>
            </a:pPr>
            <a:r>
              <a:t>• University Campuses &amp; Hostels: 150–400 kg/day plate waste; paying Rs. 45k–Rs. 80k/mo in hauling bills.</a:t>
            </a:r>
            <a:br/>
            <a:r>
              <a:t>• Gated Societies / RWAs: Paying Rs. 60k–Rs. 1.5L/mo while dealing with stench, flies, and penalty notices.</a:t>
            </a:r>
            <a:br/>
            <a:r>
              <a:t>• Municipalities &amp; ULBs: Landfills overflowing; soaring transport, diesel, and tipping expenditures.</a:t>
            </a:r>
          </a:p>
          <a:p>
            <a:pPr>
              <a:defRPr sz="740" b="1">
                <a:solidFill>
                  <a:srgbClr val="005B34"/>
                </a:solidFill>
                <a:latin typeface="Arial"/>
              </a:defRPr>
            </a:pPr>
            <a:r>
              <a:t>🏛️ Direct Financial Liability Across 120,000+ Bulk Waste Generators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0" y="5212080"/>
            <a:ext cx="5973775" cy="1097280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96128" y="5285232"/>
            <a:ext cx="1261872" cy="95097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5321808"/>
            <a:ext cx="1152143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80" b="1">
                <a:solidFill>
                  <a:srgbClr val="BA1A1A"/>
                </a:solidFill>
                <a:latin typeface="Arial"/>
              </a:defRPr>
            </a:pPr>
            <a:r>
              <a:t>MIXED DISPOSAL</a:t>
            </a:r>
          </a:p>
          <a:p>
            <a:pPr>
              <a:spcAft>
                <a:spcPts val="200"/>
              </a:spcAft>
              <a:defRPr sz="720">
                <a:solidFill>
                  <a:srgbClr val="1A1C1B"/>
                </a:solidFill>
                <a:latin typeface="Arial"/>
              </a:defRPr>
            </a:pPr>
            <a:r>
              <a:t>Unsegregated food</a:t>
            </a:r>
            <a:br/>
            <a:r>
              <a:t>&amp; plastic mixed</a:t>
            </a:r>
          </a:p>
          <a:p>
            <a:pPr>
              <a:defRPr sz="680" b="1">
                <a:solidFill>
                  <a:srgbClr val="BA1A1A"/>
                </a:solidFill>
                <a:latin typeface="Arial"/>
              </a:defRPr>
            </a:pPr>
            <a:r>
              <a:t>[0% Automation]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4576" y="5596128"/>
            <a:ext cx="16459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D6DED8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77456" y="5285232"/>
            <a:ext cx="1261872" cy="95097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0" y="5321808"/>
            <a:ext cx="1152143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80" b="1">
                <a:solidFill>
                  <a:srgbClr val="B45309"/>
                </a:solidFill>
                <a:latin typeface="Arial"/>
              </a:defRPr>
            </a:pPr>
            <a:r>
              <a:t>HAULAGE BURDEN</a:t>
            </a:r>
          </a:p>
          <a:p>
            <a:pPr>
              <a:spcAft>
                <a:spcPts val="200"/>
              </a:spcAft>
              <a:defRPr sz="720">
                <a:solidFill>
                  <a:srgbClr val="1A1C1B"/>
                </a:solidFill>
                <a:latin typeface="Arial"/>
              </a:defRPr>
            </a:pPr>
            <a:r>
              <a:t>Rs. 60k–1.5L/mo to</a:t>
            </a:r>
            <a:br/>
            <a:r>
              <a:t>haul 70% water wt</a:t>
            </a:r>
          </a:p>
          <a:p>
            <a:pPr>
              <a:defRPr sz="680" b="1">
                <a:solidFill>
                  <a:srgbClr val="B45309"/>
                </a:solidFill>
                <a:latin typeface="Arial"/>
              </a:defRPr>
            </a:pPr>
            <a:r>
              <a:t>[Sunk OpEx]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5904" y="5596128"/>
            <a:ext cx="16459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D6DED8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58784" y="5285232"/>
            <a:ext cx="1261872" cy="95097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13648" y="5321808"/>
            <a:ext cx="1152143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80" b="1">
                <a:solidFill>
                  <a:srgbClr val="BA1A1A"/>
                </a:solidFill>
                <a:latin typeface="Arial"/>
              </a:defRPr>
            </a:pPr>
            <a:r>
              <a:t>LANDFILL CRISIS</a:t>
            </a:r>
          </a:p>
          <a:p>
            <a:pPr>
              <a:spcAft>
                <a:spcPts val="200"/>
              </a:spcAft>
              <a:defRPr sz="720">
                <a:solidFill>
                  <a:srgbClr val="1A1C1B"/>
                </a:solidFill>
                <a:latin typeface="Arial"/>
              </a:defRPr>
            </a:pPr>
            <a:r>
              <a:t>Rotting mass emits</a:t>
            </a:r>
            <a:br/>
            <a:r>
              <a:t>CH4 &amp; foul leachate</a:t>
            </a:r>
          </a:p>
          <a:p>
            <a:pPr>
              <a:defRPr sz="680" b="1">
                <a:solidFill>
                  <a:srgbClr val="BA1A1A"/>
                </a:solidFill>
                <a:latin typeface="Arial"/>
              </a:defRPr>
            </a:pPr>
            <a:r>
              <a:t>[Methane Drain]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57231" y="5596128"/>
            <a:ext cx="16459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D6DED8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40112" y="5285232"/>
            <a:ext cx="1261872" cy="95097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94976" y="5321808"/>
            <a:ext cx="1152143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80" b="1">
                <a:solidFill>
                  <a:srgbClr val="1A1C1B"/>
                </a:solidFill>
                <a:latin typeface="Arial"/>
              </a:defRPr>
            </a:pPr>
            <a:r>
              <a:t>REGULATORY RISK</a:t>
            </a:r>
          </a:p>
          <a:p>
            <a:pPr>
              <a:spcAft>
                <a:spcPts val="200"/>
              </a:spcAft>
              <a:defRPr sz="720">
                <a:solidFill>
                  <a:srgbClr val="1A1C1B"/>
                </a:solidFill>
                <a:latin typeface="Arial"/>
              </a:defRPr>
            </a:pPr>
            <a:r>
              <a:t>Rs. 50k NGT fines</a:t>
            </a:r>
            <a:br/>
            <a:r>
              <a:t>under SWM 2016</a:t>
            </a:r>
          </a:p>
          <a:p>
            <a:pPr>
              <a:defRPr sz="680" b="1">
                <a:solidFill>
                  <a:srgbClr val="1A1C1B"/>
                </a:solidFill>
                <a:latin typeface="Arial"/>
              </a:defRPr>
            </a:pPr>
            <a:r>
              <a:t>[Legal Threat]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9184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05B34"/>
                </a:solidFill>
                <a:latin typeface="Arial"/>
              </a:defRPr>
            </a:pPr>
            <a:r>
              <a:t>STATUS QUO BREAKDOWN &amp; MUNICIPAL HAULAGE EXPENSE</a:t>
            </a:r>
          </a:p>
          <a:p>
            <a:pPr>
              <a:spcAft>
                <a:spcPts val="200"/>
              </a:spcAft>
              <a:defRPr sz="1900" b="1">
                <a:solidFill>
                  <a:srgbClr val="1A1C1B"/>
                </a:solidFill>
                <a:latin typeface="Arial"/>
              </a:defRPr>
            </a:pPr>
            <a:r>
              <a:t>How Customers Solve Waste Today: Heavy Haulage Expense &amp; Sunk OpEx</a:t>
            </a:r>
          </a:p>
          <a:p>
            <a:pPr>
              <a:defRPr sz="950">
                <a:solidFill>
                  <a:srgbClr val="555C5A"/>
                </a:solidFill>
                <a:latin typeface="Arial"/>
              </a:defRPr>
            </a:pPr>
            <a:r>
              <a:t>A centralized linear pipeline where customers pay twice: once to haul wet garbage away, and again to buy cooking fuel.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10728655" cy="199339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0120" y="1536192"/>
            <a:ext cx="2240280" cy="1783080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" y="1536192"/>
            <a:ext cx="2240280" cy="54864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1627632"/>
            <a:ext cx="2020824" cy="1664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005B34"/>
                </a:solidFill>
                <a:latin typeface="Arial"/>
              </a:defRPr>
            </a:pPr>
            <a:r>
              <a:t>STAGE 01 • WASTE GENERATION</a:t>
            </a:r>
          </a:p>
          <a:p>
            <a:pPr>
              <a:spcAft>
                <a:spcPts val="200"/>
              </a:spcAft>
              <a:defRPr sz="880" b="1">
                <a:solidFill>
                  <a:srgbClr val="1A1C1B"/>
                </a:solidFill>
                <a:latin typeface="Arial"/>
              </a:defRPr>
            </a:pPr>
            <a:r>
              <a:t>Bulk Mess &amp; Dining</a:t>
            </a:r>
          </a:p>
          <a:p>
            <a:pPr>
              <a:spcAft>
                <a:spcPts val="300"/>
              </a:spcAft>
              <a:defRPr sz="710">
                <a:solidFill>
                  <a:srgbClr val="555C5A"/>
                </a:solidFill>
                <a:latin typeface="Arial"/>
              </a:defRPr>
            </a:pPr>
            <a:r>
              <a:t>• 150–500 kg mixed wet scraps daily per campus.</a:t>
            </a:r>
            <a:br/>
            <a:r>
              <a:t>• Food scraps dumped directly with cutlery &amp; foil.</a:t>
            </a:r>
            <a:br/>
            <a:r>
              <a:t>• Moisture immediately ruins dry paper &amp; plastic.</a:t>
            </a:r>
            <a:br/>
            <a:r>
              <a:t>• Zero automated segregation at disposal point.</a:t>
            </a:r>
          </a:p>
          <a:p>
            <a:pPr>
              <a:defRPr sz="740" b="1">
                <a:solidFill>
                  <a:srgbClr val="B45309"/>
                </a:solidFill>
                <a:latin typeface="Arial"/>
              </a:defRPr>
            </a:pPr>
            <a:r>
              <a:t>⚠️ 0% In-Situ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73552" y="2286000"/>
            <a:ext cx="219456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00" b="1">
                <a:solidFill>
                  <a:srgbClr val="005B34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536192"/>
            <a:ext cx="2240280" cy="1783080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6160" y="1536192"/>
            <a:ext cx="2240280" cy="54864"/>
          </a:xfrm>
          <a:prstGeom prst="rect">
            <a:avLst/>
          </a:prstGeom>
          <a:solidFill>
            <a:srgbClr val="B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5888" y="1627632"/>
            <a:ext cx="2020824" cy="1664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005B34"/>
                </a:solidFill>
                <a:latin typeface="Arial"/>
              </a:defRPr>
            </a:pPr>
            <a:r>
              <a:t>STAGE 02 • 2-BIN ILLUSION</a:t>
            </a:r>
          </a:p>
          <a:p>
            <a:pPr>
              <a:spcAft>
                <a:spcPts val="200"/>
              </a:spcAft>
              <a:defRPr sz="880" b="1">
                <a:solidFill>
                  <a:srgbClr val="1A1C1B"/>
                </a:solidFill>
                <a:latin typeface="Arial"/>
              </a:defRPr>
            </a:pPr>
            <a:r>
              <a:t>Manual Colored Bins</a:t>
            </a:r>
          </a:p>
          <a:p>
            <a:pPr>
              <a:spcAft>
                <a:spcPts val="300"/>
              </a:spcAft>
              <a:defRPr sz="710">
                <a:solidFill>
                  <a:srgbClr val="555C5A"/>
                </a:solidFill>
                <a:latin typeface="Arial"/>
              </a:defRPr>
            </a:pPr>
            <a:r>
              <a:t>• Human sorting discipline fails (&gt;40% error rate).</a:t>
            </a:r>
            <a:br/>
            <a:r>
              <a:t>• Single oily plate ruins 50 kg of clean paper recyclables.</a:t>
            </a:r>
            <a:br/>
            <a:r>
              <a:t>• Mess staff forced to manually hand-pick dirty bins.</a:t>
            </a:r>
            <a:br/>
            <a:r>
              <a:t>• Waste contractors reject contaminated loads.</a:t>
            </a:r>
          </a:p>
          <a:p>
            <a:pPr>
              <a:defRPr sz="740" b="1">
                <a:solidFill>
                  <a:srgbClr val="BA1A1A"/>
                </a:solidFill>
                <a:latin typeface="Arial"/>
              </a:defRPr>
            </a:pPr>
            <a:r>
              <a:t>⚠️ &gt;40% Sorting Failure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79592" y="2286000"/>
            <a:ext cx="219456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00" b="1">
                <a:solidFill>
                  <a:srgbClr val="005B34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36192"/>
            <a:ext cx="2240280" cy="1783080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36192"/>
            <a:ext cx="2240280" cy="54864"/>
          </a:xfrm>
          <a:prstGeom prst="rect">
            <a:avLst/>
          </a:prstGeom>
          <a:solidFill>
            <a:srgbClr val="B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1928" y="1627632"/>
            <a:ext cx="2020824" cy="1664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005B34"/>
                </a:solidFill>
                <a:latin typeface="Arial"/>
              </a:defRPr>
            </a:pPr>
            <a:r>
              <a:t>STAGE 03 • PRIVATE HAULING</a:t>
            </a:r>
          </a:p>
          <a:p>
            <a:pPr>
              <a:spcAft>
                <a:spcPts val="200"/>
              </a:spcAft>
              <a:defRPr sz="880" b="1">
                <a:solidFill>
                  <a:srgbClr val="1A1C1B"/>
                </a:solidFill>
                <a:latin typeface="Arial"/>
              </a:defRPr>
            </a:pPr>
            <a:r>
              <a:t>Contractor Haulage</a:t>
            </a:r>
          </a:p>
          <a:p>
            <a:pPr>
              <a:spcAft>
                <a:spcPts val="300"/>
              </a:spcAft>
              <a:defRPr sz="710">
                <a:solidFill>
                  <a:srgbClr val="555C5A"/>
                </a:solidFill>
                <a:latin typeface="Arial"/>
              </a:defRPr>
            </a:pPr>
            <a:r>
              <a:t>• Diesel trucks transport 70% water weight 30+ km.</a:t>
            </a:r>
            <a:br/>
            <a:r>
              <a:t>• Heavy recurring monthly drain on campus budgets.</a:t>
            </a:r>
            <a:br/>
            <a:r>
              <a:t>• Constant diesel price inflation passed to institution.</a:t>
            </a:r>
            <a:br/>
            <a:r>
              <a:t>• Foul odor, flies, and logistical friction at bays.</a:t>
            </a:r>
          </a:p>
          <a:p>
            <a:pPr>
              <a:defRPr sz="740" b="1">
                <a:solidFill>
                  <a:srgbClr val="BA1A1A"/>
                </a:solidFill>
                <a:latin typeface="Arial"/>
              </a:defRPr>
            </a:pPr>
            <a:r>
              <a:t>💸 Rs. 50k–1.5L / Month Sunk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85632" y="2286000"/>
            <a:ext cx="219456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00" b="1">
                <a:solidFill>
                  <a:srgbClr val="005B34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1536192"/>
            <a:ext cx="2240280" cy="1783080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78240" y="1536192"/>
            <a:ext cx="2240280" cy="54864"/>
          </a:xfrm>
          <a:prstGeom prst="rect">
            <a:avLst/>
          </a:prstGeom>
          <a:solidFill>
            <a:srgbClr val="1A1C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87968" y="1627632"/>
            <a:ext cx="2020824" cy="1664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005B34"/>
                </a:solidFill>
                <a:latin typeface="Arial"/>
              </a:defRPr>
            </a:pPr>
            <a:r>
              <a:t>STAGE 04 • LANDFILLS &amp; FINES</a:t>
            </a:r>
          </a:p>
          <a:p>
            <a:pPr>
              <a:spcAft>
                <a:spcPts val="200"/>
              </a:spcAft>
              <a:defRPr sz="880" b="1">
                <a:solidFill>
                  <a:srgbClr val="1A1C1B"/>
                </a:solidFill>
                <a:latin typeface="Arial"/>
              </a:defRPr>
            </a:pPr>
            <a:r>
              <a:t>End of Linear Chain</a:t>
            </a:r>
          </a:p>
          <a:p>
            <a:pPr>
              <a:spcAft>
                <a:spcPts val="300"/>
              </a:spcAft>
              <a:defRPr sz="710">
                <a:solidFill>
                  <a:srgbClr val="555C5A"/>
                </a:solidFill>
                <a:latin typeface="Arial"/>
              </a:defRPr>
            </a:pPr>
            <a:r>
              <a:t>• Mixed waste dumped in overflowing municipal pits.</a:t>
            </a:r>
            <a:br/>
            <a:r>
              <a:t>• Emits fugitive methane (CH4) &amp; toxic black leachate.</a:t>
            </a:r>
            <a:br/>
            <a:r>
              <a:t>• Up to Rs. 50,000 NGT fines under SWM Rules 2016.</a:t>
            </a:r>
            <a:br/>
            <a:r>
              <a:t>• Negative PR &amp; adverse NAAC Green audit remarks.</a:t>
            </a:r>
          </a:p>
          <a:p>
            <a:pPr>
              <a:defRPr sz="740" b="1">
                <a:solidFill>
                  <a:srgbClr val="1A1C1B"/>
                </a:solidFill>
                <a:latin typeface="Arial"/>
              </a:defRPr>
            </a:pPr>
            <a:r>
              <a:t>🚨 Rs. 50,000 Legal NGT Fines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547872"/>
            <a:ext cx="4389120" cy="276148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urban_landfill_dum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639312"/>
            <a:ext cx="4114800" cy="2103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68680" y="5815584"/>
            <a:ext cx="411480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>
                <a:solidFill>
                  <a:srgbClr val="555C5A"/>
                </a:solidFill>
                <a:latin typeface="Arial"/>
              </a:defRPr>
            </a:pPr>
            <a:r>
              <a:t>Municipal collection fleet &amp; open dumpyards: Heavy diesel consumption, recurring transport invoices, and soaring tipping fees.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3547872"/>
            <a:ext cx="6156655" cy="276148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3639312"/>
            <a:ext cx="579089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BA1A1A"/>
                </a:solidFill>
                <a:latin typeface="Arial"/>
              </a:defRPr>
            </a:pPr>
            <a:r>
              <a:t>WHERE EXISTING BUDGETS ARE LOST (THE DOUBLE-PAYMENT DILEMMA):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931920"/>
            <a:ext cx="579089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60">
                <a:solidFill>
                  <a:srgbClr val="1A1C1B"/>
                </a:solidFill>
                <a:latin typeface="Arial"/>
              </a:defRPr>
            </a:pPr>
            <a:r>
              <a:t>• Private Hauling Contracts: Rs. 50,000–1,50,000/mo spent paying contractors to haul 70% water-weight scrap. [💸 Sunk Monthly OpEx Drain]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4343400"/>
            <a:ext cx="579089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60">
                <a:solidFill>
                  <a:srgbClr val="1A1C1B"/>
                </a:solidFill>
                <a:latin typeface="Arial"/>
              </a:defRPr>
            </a:pPr>
            <a:r>
              <a:t>• Commercial LPG Gas Bills: Hostel kitchens simultaneously spend Rs. 50,000–90,000/mo purchasing 25–40 LPG cylinders. [🔥 Paying Twice for Energy]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4754880"/>
            <a:ext cx="579089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60">
                <a:solidFill>
                  <a:srgbClr val="1A1C1B"/>
                </a:solidFill>
                <a:latin typeface="Arial"/>
              </a:defRPr>
            </a:pPr>
            <a:r>
              <a:t>• The 'Compost Trap': Open campus compost pits turn anaerobic during monsoon rains; breed flies and get rejected. [🌧️ Weather-Dependent Failure]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5166360"/>
            <a:ext cx="579089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60">
                <a:solidFill>
                  <a:srgbClr val="1A1C1B"/>
                </a:solidFill>
                <a:latin typeface="Arial"/>
              </a:defRPr>
            </a:pPr>
            <a:r>
              <a:t>• Traditional Biogas Crashes: Conventional digesters sour and die within weeks due to lack of automated pH telemetry. [📉 Biological Acid Souring Risk]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0" y="5632704"/>
            <a:ext cx="5790895" cy="585216"/>
          </a:xfrm>
          <a:prstGeom prst="roundRect">
            <a:avLst>
              <a:gd name="adj" fmla="val 3500"/>
            </a:avLst>
          </a:prstGeom>
          <a:solidFill>
            <a:srgbClr val="ECF8F1"/>
          </a:solidFill>
          <a:ln w="12700">
            <a:solidFill>
              <a:srgbClr val="80D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96128" y="5687568"/>
            <a:ext cx="55778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005B34"/>
                </a:solidFill>
                <a:latin typeface="Arial"/>
              </a:defRPr>
            </a:pPr>
            <a:r>
              <a:t>THE STRATEGIC OPPORTUNITY: Eliminate truck haulage completely. Convert daily food scraps into on-site cooking fuel and high-purity industrial recyclables right at the source.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9184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05B34"/>
                </a:solidFill>
                <a:latin typeface="Arial"/>
              </a:defRPr>
            </a:pPr>
            <a:r>
              <a:t>THE ECOBIN BUSINESS PROPOSITION</a:t>
            </a:r>
          </a:p>
          <a:p>
            <a:pPr>
              <a:spcAft>
                <a:spcPts val="200"/>
              </a:spcAft>
              <a:defRPr sz="1900" b="1">
                <a:solidFill>
                  <a:srgbClr val="1A1C1B"/>
                </a:solidFill>
                <a:latin typeface="Arial"/>
              </a:defRPr>
            </a:pPr>
            <a:r>
              <a:t>What We Do &amp; Who We Target: Autonomous Decentralized Bio-Utility</a:t>
            </a:r>
          </a:p>
          <a:p>
            <a:pPr>
              <a:defRPr sz="950">
                <a:solidFill>
                  <a:srgbClr val="555C5A"/>
                </a:solidFill>
                <a:latin typeface="Arial"/>
              </a:defRPr>
            </a:pPr>
            <a:r>
              <a:t>Transforming bulk waste generators from passive fee-payers into decentralized clean energy utilities.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5212080" cy="4892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554480"/>
            <a:ext cx="4846320" cy="868680"/>
          </a:xfrm>
          <a:prstGeom prst="roundRect">
            <a:avLst>
              <a:gd name="adj" fmla="val 3500"/>
            </a:avLst>
          </a:prstGeom>
          <a:solidFill>
            <a:srgbClr val="ECF8F1"/>
          </a:solidFill>
          <a:ln w="12700">
            <a:solidFill>
              <a:srgbClr val="80D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609344"/>
            <a:ext cx="4626864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05B34"/>
                </a:solidFill>
                <a:latin typeface="Arial"/>
              </a:defRPr>
            </a:pPr>
            <a:r>
              <a:t>WHAT ECOBIN DOES</a:t>
            </a:r>
          </a:p>
          <a:p>
            <a:pPr>
              <a:defRPr sz="800">
                <a:solidFill>
                  <a:srgbClr val="1A1C1B"/>
                </a:solidFill>
                <a:latin typeface="Arial"/>
              </a:defRPr>
            </a:pPr>
            <a:r>
              <a:t>EcoBin deploys autonomous edge-AI source-segregation coupled with closed-loop anaerobic biodigestion, converting daily food waste directly into free cooking fuel and pristine recyclables right on campus.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05456"/>
            <a:ext cx="484632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 b="1">
                <a:solidFill>
                  <a:srgbClr val="555C5A"/>
                </a:solidFill>
                <a:latin typeface="Arial"/>
              </a:defRPr>
            </a:pPr>
            <a:r>
              <a:t>WHO WE ARE TARGETING (TARGET CUSTOMER SEGMENTS)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761488"/>
            <a:ext cx="4846320" cy="1097280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807208"/>
            <a:ext cx="462686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005B34"/>
                </a:solidFill>
                <a:latin typeface="Arial"/>
              </a:defRPr>
            </a:pPr>
            <a:r>
              <a:t>1. BEACHHEAD: UNIVERSITY CAMPUSES &amp; HOSTELS [Institutional Living Lab]</a:t>
            </a:r>
          </a:p>
          <a:p>
            <a:pPr>
              <a:defRPr sz="700">
                <a:solidFill>
                  <a:srgbClr val="1A1C1B"/>
                </a:solidFill>
                <a:latin typeface="Arial"/>
              </a:defRPr>
            </a:pPr>
            <a:r>
              <a:t>• Scale: 1,000–3,000 students generating 150–400 kg/day bulk mess plate waste.</a:t>
            </a:r>
            <a:br/>
            <a:r>
              <a:t>• Economic Buyer: Campus Director / Dean (single-point signoff, NAAC A++ Green focus).</a:t>
            </a:r>
            <a:br/>
            <a:r>
              <a:t>• Economic Return: Displaces 25–30 commercial LPG cylinders/mo; eliminates hauling fees.</a:t>
            </a:r>
            <a:br/>
            <a:r>
              <a:t>• Conversion Trigger: Mandatory SWM 2016 audit compliance &amp; net-zero campus branding.</a:t>
            </a:r>
            <a:br/>
            <a:r>
              <a:t>• Active Proof: 250 kg/day canteen waste converted to energy at campus pilot testbed.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913632"/>
            <a:ext cx="4846320" cy="1097280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959352"/>
            <a:ext cx="462686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137547"/>
                </a:solidFill>
                <a:latin typeface="Arial"/>
              </a:defRPr>
            </a:pPr>
            <a:r>
              <a:t>2. SCALED EXPANSION: GATED RESIDENTIAL SOCIETIES [RWAs &amp; HOAs]</a:t>
            </a:r>
          </a:p>
          <a:p>
            <a:pPr>
              <a:defRPr sz="700">
                <a:solidFill>
                  <a:srgbClr val="1A1C1B"/>
                </a:solidFill>
                <a:latin typeface="Arial"/>
              </a:defRPr>
            </a:pPr>
            <a:r>
              <a:t>• Scale: 200–1,200+ apartments with dedicated monthly maintenance budgets.</a:t>
            </a:r>
            <a:br/>
            <a:r>
              <a:t>• Economic Buyer: RWA Management Committee (faces Rs. 50k SWM compliance notices).</a:t>
            </a:r>
            <a:br/>
            <a:r>
              <a:t>• Economic Return: Eliminates odor and fly infestations; Rs. 65k–1L/mo net cash savings.</a:t>
            </a:r>
            <a:br/>
            <a:r>
              <a:t>• Conversion Trigger: Subsidized solar/biogas utility incentives and clean waste bays.</a:t>
            </a:r>
            <a:br/>
            <a:r>
              <a:t>• RWA Economics: Zero resident levy; funded through existing maintenance reserves.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065776"/>
            <a:ext cx="4846320" cy="1097280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5111496"/>
            <a:ext cx="462686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1A1C1B"/>
                </a:solidFill>
                <a:latin typeface="Arial"/>
              </a:defRPr>
            </a:pPr>
            <a:r>
              <a:t>3. ENTERPRISE: IT PARKS &amp; CORPORATE TECH HUBS [Commercial Hubs]</a:t>
            </a:r>
          </a:p>
          <a:p>
            <a:pPr>
              <a:defRPr sz="700">
                <a:solidFill>
                  <a:srgbClr val="1A1C1B"/>
                </a:solidFill>
                <a:latin typeface="Arial"/>
              </a:defRPr>
            </a:pPr>
            <a:r>
              <a:t>• Scale: 3,000–10,000 employees; massive cafeteria food load with strict ESG reporting.</a:t>
            </a:r>
            <a:br/>
            <a:r>
              <a:t>• Economic Buyer: VP Corporate Services / ESG Directors (Net-Zero Scope-1 mandates).</a:t>
            </a:r>
            <a:br/>
            <a:r>
              <a:t>• Operational Beneficiaries: Canteen vendors (free cooking fuel) &amp; grounds staff (fertilizer).</a:t>
            </a:r>
            <a:br/>
            <a:r>
              <a:t>• Conversion Trigger: Corporate ESG reporting (SEBI BRSR) and sustainability ratings.</a:t>
            </a:r>
            <a:br/>
            <a:r>
              <a:t>• Operational Moat: Eliminates foul loading dock odor and landfill carting friction.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5333695" cy="4892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554480"/>
            <a:ext cx="493776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005B34"/>
                </a:solidFill>
                <a:latin typeface="Arial"/>
              </a:defRPr>
            </a:pPr>
            <a:r>
              <a:t>CORE ENGINEERING INNOVATIONS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28800"/>
            <a:ext cx="4967935" cy="60350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74519"/>
            <a:ext cx="475488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0284C7"/>
                </a:solidFill>
                <a:latin typeface="Arial"/>
              </a:defRPr>
            </a:pPr>
            <a:r>
              <a:t>• ESP32-S3 Edge-AI Vision (&lt;150ms) ➔ 100% Recyclable Value Preserved</a:t>
            </a:r>
          </a:p>
          <a:p>
            <a:pPr>
              <a:defRPr sz="710">
                <a:solidFill>
                  <a:srgbClr val="555C5A"/>
                </a:solidFill>
                <a:latin typeface="Arial"/>
              </a:defRPr>
            </a:pPr>
            <a:r>
              <a:t>  YOLOv8 quantized model &amp; dielectric sensors classify waste before moisture spreads.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487168"/>
            <a:ext cx="4967935" cy="60350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2532887"/>
            <a:ext cx="475488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005B34"/>
                </a:solidFill>
                <a:latin typeface="Arial"/>
              </a:defRPr>
            </a:pPr>
            <a:r>
              <a:t>• In-Situ Micro-Slurry Maceration ➔ 60% Hauling Volume Diverted On-Site</a:t>
            </a:r>
          </a:p>
          <a:p>
            <a:pPr>
              <a:defRPr sz="710">
                <a:solidFill>
                  <a:srgbClr val="555C5A"/>
                </a:solidFill>
                <a:latin typeface="Arial"/>
              </a:defRPr>
            </a:pPr>
            <a:r>
              <a:t>  Stainless-steel blades shear food waste into a uniform &lt;2mm pumpable fluid slurry.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145536"/>
            <a:ext cx="4967935" cy="60350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191256"/>
            <a:ext cx="475488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137547"/>
                </a:solidFill>
                <a:latin typeface="Arial"/>
              </a:defRPr>
            </a:pPr>
            <a:r>
              <a:t>• Active Anti-Souring Bio-Telemetry ➔ Continuous Biogas Yield (Zero Souring)</a:t>
            </a:r>
          </a:p>
          <a:p>
            <a:pPr>
              <a:defRPr sz="710">
                <a:solidFill>
                  <a:srgbClr val="555C5A"/>
                </a:solidFill>
                <a:latin typeface="Arial"/>
              </a:defRPr>
            </a:pPr>
            <a:r>
              <a:t>  Slurry pH sensor automatically doses NaHCO3 buffer to stabilize methanogens.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803904"/>
            <a:ext cx="4967935" cy="60350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849624"/>
            <a:ext cx="475488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B45309"/>
                </a:solidFill>
                <a:latin typeface="Arial"/>
              </a:defRPr>
            </a:pPr>
            <a:r>
              <a:t>• Direct Closed-Loop Fuel Routing ➔ Displaces 25–30 Commercial LPG Cylinders/mo</a:t>
            </a:r>
          </a:p>
          <a:p>
            <a:pPr>
              <a:defRPr sz="710">
                <a:solidFill>
                  <a:srgbClr val="555C5A"/>
                </a:solidFill>
                <a:latin typeface="Arial"/>
              </a:defRPr>
            </a:pPr>
            <a:r>
              <a:t>  Purified methane (65% CH4) piped directly to kitchen cooking stoves.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4535424"/>
            <a:ext cx="4967935" cy="1664208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590288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850" b="1">
                <a:solidFill>
                  <a:srgbClr val="1A1C1B"/>
                </a:solidFill>
                <a:latin typeface="Arial"/>
              </a:defRPr>
            </a:pPr>
            <a:r>
              <a:t>OPERATIONAL WORKFLOW COMPARISON (BEFORE VS. AFTER)</a:t>
            </a:r>
          </a:p>
          <a:p>
            <a:pPr>
              <a:defRPr sz="750" b="1">
                <a:solidFill>
                  <a:srgbClr val="BA1A1A"/>
                </a:solidFill>
                <a:latin typeface="Arial"/>
              </a:defRPr>
            </a:pPr>
            <a:r>
              <a:t>❌ BEFORE: Conventional Linear Haulage (Sunk Cost Drain)</a:t>
            </a:r>
          </a:p>
          <a:p>
            <a:pPr>
              <a:spcAft>
                <a:spcPts val="500"/>
              </a:spcAft>
              <a:defRPr sz="720">
                <a:solidFill>
                  <a:srgbClr val="1A1C1B"/>
                </a:solidFill>
                <a:latin typeface="Arial"/>
              </a:defRPr>
            </a:pPr>
            <a:r>
              <a:t>Mixed Waste ➔ 40%+ Human Error ➔ Contaminated Bins ➔ Rs. 80k Diesel Truck Haul ➔ Landfill Methane &amp; Fines</a:t>
            </a:r>
          </a:p>
          <a:p>
            <a:pPr>
              <a:defRPr sz="750" b="1">
                <a:solidFill>
                  <a:srgbClr val="005B34"/>
                </a:solidFill>
                <a:latin typeface="Arial"/>
              </a:defRPr>
            </a:pPr>
            <a:r>
              <a:t>✅ AFTER: EcoBin Autonomous Closed-Loop (Positive Cashflow)</a:t>
            </a:r>
          </a:p>
          <a:p>
            <a:pPr>
              <a:defRPr sz="720">
                <a:solidFill>
                  <a:srgbClr val="1A1C1B"/>
                </a:solidFill>
                <a:latin typeface="Arial"/>
              </a:defRPr>
            </a:pPr>
            <a:r>
              <a:t>Single Mixed Drop ➔ &lt;150ms Edge-AI Vision ➔ &lt;2mm Slurry Maceration ➔ Mesophilic Digestion ➔ Free Cooking Gas + Clean Baled Recyclables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9184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05B34"/>
                </a:solidFill>
                <a:latin typeface="Arial"/>
              </a:defRPr>
            </a:pPr>
            <a:r>
              <a:t>SYSTEM &amp; COMMERCIAL ARCHITECTURE</a:t>
            </a:r>
          </a:p>
          <a:p>
            <a:pPr>
              <a:spcAft>
                <a:spcPts val="200"/>
              </a:spcAft>
              <a:defRPr sz="1900" b="1">
                <a:solidFill>
                  <a:srgbClr val="1A1C1B"/>
                </a:solidFill>
                <a:latin typeface="Arial"/>
              </a:defRPr>
            </a:pPr>
            <a:r>
              <a:t>Structured Product &amp; Business Model: Closed-Loop Utility Pipeline</a:t>
            </a:r>
          </a:p>
          <a:p>
            <a:pPr>
              <a:defRPr sz="950">
                <a:solidFill>
                  <a:srgbClr val="555C5A"/>
                </a:solidFill>
                <a:latin typeface="Arial"/>
              </a:defRPr>
            </a:pPr>
            <a:r>
              <a:t>Both the closed-loop waste pipeline and commercial value exchange structured in clean diagrammatic form.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3749039" cy="4892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mpus_archite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356616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779008"/>
            <a:ext cx="34747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005B34"/>
                </a:solidFill>
                <a:latin typeface="Arial"/>
              </a:defRPr>
            </a:pPr>
            <a:r>
              <a:t>Campus Closed-Loop Architecture: Tower segregation, dual-pipe network, and central utility bio-digester.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417320"/>
            <a:ext cx="6796735" cy="24231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0" y="1508760"/>
            <a:ext cx="640080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80" b="1">
                <a:solidFill>
                  <a:srgbClr val="005B34"/>
                </a:solidFill>
                <a:latin typeface="Arial"/>
              </a:defRPr>
            </a:pPr>
            <a:r>
              <a:t>A. PRODUCT OPERATING MODEL: CLOSED-LOOP UTILITY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783080"/>
            <a:ext cx="1517904" cy="197510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46320" y="1783080"/>
            <a:ext cx="1517904" cy="45720"/>
          </a:xfrm>
          <a:prstGeom prst="rect">
            <a:avLst/>
          </a:prstGeom>
          <a:solidFill>
            <a:srgbClr val="1A1C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1856231"/>
            <a:ext cx="1371600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80" b="1">
                <a:solidFill>
                  <a:srgbClr val="1A1C1B"/>
                </a:solidFill>
                <a:latin typeface="Arial"/>
              </a:defRPr>
            </a:pPr>
            <a:r>
              <a:t>STEP 01 • SMART INGESTION</a:t>
            </a:r>
          </a:p>
          <a:p>
            <a:pPr>
              <a:spcAft>
                <a:spcPts val="200"/>
              </a:spcAft>
              <a:defRPr sz="750" b="1">
                <a:solidFill>
                  <a:srgbClr val="1A1C1B"/>
                </a:solidFill>
                <a:latin typeface="Arial"/>
              </a:defRPr>
            </a:pPr>
            <a:r>
              <a:t>Floors &amp; Dining Mess</a:t>
            </a:r>
          </a:p>
          <a:p>
            <a:pPr>
              <a:spcAft>
                <a:spcPts val="300"/>
              </a:spcAft>
              <a:defRPr sz="690">
                <a:solidFill>
                  <a:srgbClr val="555C5A"/>
                </a:solidFill>
                <a:latin typeface="Arial"/>
              </a:defRPr>
            </a:pPr>
            <a:r>
              <a:t>• Users drop mixed waste with zero sorting effort.</a:t>
            </a:r>
            <a:br/>
            <a:r>
              <a:t>• Multi-sensor dielectric ring senses moisture content.</a:t>
            </a:r>
            <a:br/>
            <a:r>
              <a:t>• Real-time edge inference triggers diverter gate.</a:t>
            </a:r>
            <a:br/>
            <a:r>
              <a:t>• Hardware: ESP32-S3 + OV2640 Optical Sensor.</a:t>
            </a:r>
          </a:p>
          <a:p>
            <a:pPr>
              <a:defRPr sz="720" b="1">
                <a:solidFill>
                  <a:srgbClr val="1A1C1B"/>
                </a:solidFill>
                <a:latin typeface="Arial"/>
              </a:defRPr>
            </a:pPr>
            <a:r>
              <a:t>⚡ &lt;150ms Instant Sort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606040"/>
            <a:ext cx="914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005B34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37376" y="1783080"/>
            <a:ext cx="1517904" cy="197510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37376" y="1783080"/>
            <a:ext cx="1517904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856231"/>
            <a:ext cx="1371600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80" b="1">
                <a:solidFill>
                  <a:srgbClr val="0284C7"/>
                </a:solidFill>
                <a:latin typeface="Arial"/>
              </a:defRPr>
            </a:pPr>
            <a:r>
              <a:t>STEP 02 • DUAL-PIPE SPLIT</a:t>
            </a:r>
          </a:p>
          <a:p>
            <a:pPr>
              <a:spcAft>
                <a:spcPts val="200"/>
              </a:spcAft>
              <a:defRPr sz="750" b="1">
                <a:solidFill>
                  <a:srgbClr val="1A1C1B"/>
                </a:solidFill>
                <a:latin typeface="Arial"/>
              </a:defRPr>
            </a:pPr>
            <a:r>
              <a:t>Machine Vision Chute</a:t>
            </a:r>
          </a:p>
          <a:p>
            <a:pPr>
              <a:spcAft>
                <a:spcPts val="300"/>
              </a:spcAft>
              <a:defRPr sz="690">
                <a:solidFill>
                  <a:srgbClr val="555C5A"/>
                </a:solidFill>
                <a:latin typeface="Arial"/>
              </a:defRPr>
            </a:pPr>
            <a:r>
              <a:t>• YOLOv8 classifies dry packaging vs organic food.</a:t>
            </a:r>
            <a:br/>
            <a:r>
              <a:t>• High-speed motorized flapper diverts dry to blue chute.</a:t>
            </a:r>
            <a:br/>
            <a:r>
              <a:t>• Wet organics directed to low-friction green chute.</a:t>
            </a:r>
            <a:br/>
            <a:r>
              <a:t>• Hardware: Pneumatic 12V High-Torque Servo.</a:t>
            </a:r>
          </a:p>
          <a:p>
            <a:pPr>
              <a:defRPr sz="720" b="1">
                <a:solidFill>
                  <a:srgbClr val="0284C7"/>
                </a:solidFill>
                <a:latin typeface="Arial"/>
              </a:defRPr>
            </a:pPr>
            <a:r>
              <a:t>🔵 Dry | 🟢 Wet Slurry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2606040"/>
            <a:ext cx="914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005B34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1" y="1783080"/>
            <a:ext cx="1517904" cy="197510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431" y="1783080"/>
            <a:ext cx="1517904" cy="45720"/>
          </a:xfrm>
          <a:prstGeom prst="rect">
            <a:avLst/>
          </a:prstGeom>
          <a:solidFill>
            <a:srgbClr val="137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01583" y="1856231"/>
            <a:ext cx="1371600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80" b="1">
                <a:solidFill>
                  <a:srgbClr val="137547"/>
                </a:solidFill>
                <a:latin typeface="Arial"/>
              </a:defRPr>
            </a:pPr>
            <a:r>
              <a:t>STEP 03 • BIO-DIGESTION</a:t>
            </a:r>
          </a:p>
          <a:p>
            <a:pPr>
              <a:spcAft>
                <a:spcPts val="200"/>
              </a:spcAft>
              <a:defRPr sz="750" b="1">
                <a:solidFill>
                  <a:srgbClr val="1A1C1B"/>
                </a:solidFill>
                <a:latin typeface="Arial"/>
              </a:defRPr>
            </a:pPr>
            <a:r>
              <a:t>Mesophilic Dome (37°C)</a:t>
            </a:r>
          </a:p>
          <a:p>
            <a:pPr>
              <a:spcAft>
                <a:spcPts val="300"/>
              </a:spcAft>
              <a:defRPr sz="690">
                <a:solidFill>
                  <a:srgbClr val="555C5A"/>
                </a:solidFill>
                <a:latin typeface="Arial"/>
              </a:defRPr>
            </a:pPr>
            <a:r>
              <a:t>• Stainless macerator shears organic food to &lt;2mm.</a:t>
            </a:r>
            <a:br/>
            <a:r>
              <a:t>• Continuous telemetry monitors acidity and VFA levels.</a:t>
            </a:r>
            <a:br/>
            <a:r>
              <a:t>• Auto-doses NaHCO3 buffer to prevent souring crashes.</a:t>
            </a:r>
            <a:br/>
            <a:r>
              <a:t>• Hardware: 316 Stainless Steel Macerator Mill.</a:t>
            </a:r>
          </a:p>
          <a:p>
            <a:pPr>
              <a:defRPr sz="720" b="1">
                <a:solidFill>
                  <a:srgbClr val="137547"/>
                </a:solidFill>
                <a:latin typeface="Arial"/>
              </a:defRPr>
            </a:pPr>
            <a:r>
              <a:t>🧪 Active Anti-Souring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46336" y="2606040"/>
            <a:ext cx="914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005B34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19488" y="1783080"/>
            <a:ext cx="1517904" cy="197510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19488" y="1783080"/>
            <a:ext cx="1517904" cy="457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1856231"/>
            <a:ext cx="1371600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80" b="1">
                <a:solidFill>
                  <a:srgbClr val="B45309"/>
                </a:solidFill>
                <a:latin typeface="Arial"/>
              </a:defRPr>
            </a:pPr>
            <a:r>
              <a:t>STEP 04 • DIRECT FUEL</a:t>
            </a:r>
          </a:p>
          <a:p>
            <a:pPr>
              <a:spcAft>
                <a:spcPts val="200"/>
              </a:spcAft>
              <a:defRPr sz="750" b="1">
                <a:solidFill>
                  <a:srgbClr val="1A1C1B"/>
                </a:solidFill>
                <a:latin typeface="Arial"/>
              </a:defRPr>
            </a:pPr>
            <a:r>
              <a:t>Kitchen Cooking Gas</a:t>
            </a:r>
          </a:p>
          <a:p>
            <a:pPr>
              <a:spcAft>
                <a:spcPts val="300"/>
              </a:spcAft>
              <a:defRPr sz="690">
                <a:solidFill>
                  <a:srgbClr val="555C5A"/>
                </a:solidFill>
                <a:latin typeface="Arial"/>
              </a:defRPr>
            </a:pPr>
            <a:r>
              <a:t>• Purified methane (65% CH4) piped directly to stoves.</a:t>
            </a:r>
            <a:br/>
            <a:r>
              <a:t>• Displaces 25–30 commercial LPG cylinders every month.</a:t>
            </a:r>
            <a:br/>
            <a:r>
              <a:t>• Mineral-rich organic bio-fertilizer bottled on-site.</a:t>
            </a:r>
            <a:br/>
            <a:r>
              <a:t>• Hardware: Direct Kitchen Gas Stove Manifold.</a:t>
            </a:r>
          </a:p>
          <a:p>
            <a:pPr>
              <a:defRPr sz="720" b="1">
                <a:solidFill>
                  <a:srgbClr val="B45309"/>
                </a:solidFill>
                <a:latin typeface="Arial"/>
              </a:defRPr>
            </a:pPr>
            <a:r>
              <a:t>🔥 28 LPG Cylinders/mo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3931920"/>
            <a:ext cx="6796735" cy="2377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4005072"/>
            <a:ext cx="640080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80" b="1">
                <a:solidFill>
                  <a:srgbClr val="005B34"/>
                </a:solidFill>
                <a:latin typeface="Arial"/>
              </a:defRPr>
            </a:pPr>
            <a:r>
              <a:t>B. BUSINESS COMMERCIAL MODEL: WHO PAYS, WHAT THEY GET, AND RECURRING CASH FLOW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46320" y="4279392"/>
            <a:ext cx="2057400" cy="1938528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46320" y="4279392"/>
            <a:ext cx="2057400" cy="45720"/>
          </a:xfrm>
          <a:prstGeom prst="rect">
            <a:avLst/>
          </a:prstGeom>
          <a:solidFill>
            <a:srgbClr val="1A1C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59" y="4352544"/>
            <a:ext cx="187451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1A1C1B"/>
                </a:solidFill>
                <a:latin typeface="Arial"/>
              </a:defRPr>
            </a:pPr>
            <a:r>
              <a:t>WHO PAYS ECOBIN?</a:t>
            </a:r>
          </a:p>
          <a:p>
            <a:pPr>
              <a:spcAft>
                <a:spcPts val="200"/>
              </a:spcAft>
              <a:defRPr sz="750" b="1">
                <a:solidFill>
                  <a:srgbClr val="1A1C1B"/>
                </a:solidFill>
                <a:latin typeface="Arial"/>
              </a:defRPr>
            </a:pPr>
            <a:r>
              <a:t>Direct B2B Buyers</a:t>
            </a:r>
          </a:p>
          <a:p>
            <a:pPr>
              <a:spcAft>
                <a:spcPts val="300"/>
              </a:spcAft>
              <a:defRPr sz="700">
                <a:solidFill>
                  <a:srgbClr val="1A1C1B"/>
                </a:solidFill>
                <a:latin typeface="Arial"/>
              </a:defRPr>
            </a:pPr>
            <a:r>
              <a:t>• Institutional Campuses (Universities &amp; Hostels)</a:t>
            </a:r>
            <a:br/>
            <a:r>
              <a:t>• Gated Societies (RWAs &amp; Large HOAs)</a:t>
            </a:r>
            <a:br/>
            <a:r>
              <a:t>• Facility Management Operators (JLL, CBRE)</a:t>
            </a:r>
            <a:br/>
            <a:r>
              <a:t>• Single economic decision-makers managing centralized utility and maintenance funds.</a:t>
            </a:r>
            <a:br/>
            <a:r>
              <a:t>• Direct contract signoff eliminates multi-tier procurement delays.</a:t>
            </a:r>
          </a:p>
          <a:p>
            <a:pPr>
              <a:defRPr sz="720" b="1">
                <a:solidFill>
                  <a:srgbClr val="1A1C1B"/>
                </a:solidFill>
                <a:latin typeface="Arial"/>
              </a:defRPr>
            </a:pPr>
            <a:r>
              <a:t>🏛️ Institutional Decision-Makers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95160" y="4279392"/>
            <a:ext cx="2057400" cy="1938528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95160" y="4279392"/>
            <a:ext cx="2057400" cy="45720"/>
          </a:xfrm>
          <a:prstGeom prst="rect">
            <a:avLst/>
          </a:prstGeom>
          <a:solidFill>
            <a:srgbClr val="137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86600" y="4352544"/>
            <a:ext cx="187451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137547"/>
                </a:solidFill>
                <a:latin typeface="Arial"/>
              </a:defRPr>
            </a:pPr>
            <a:r>
              <a:t>WHAT DO THEY PAY FOR?</a:t>
            </a:r>
          </a:p>
          <a:p>
            <a:pPr>
              <a:spcAft>
                <a:spcPts val="200"/>
              </a:spcAft>
              <a:defRPr sz="750" b="1">
                <a:solidFill>
                  <a:srgbClr val="1A1C1B"/>
                </a:solidFill>
                <a:latin typeface="Arial"/>
              </a:defRPr>
            </a:pPr>
            <a:r>
              <a:t>Dual Revenue Mechanics</a:t>
            </a:r>
          </a:p>
          <a:p>
            <a:pPr>
              <a:spcAft>
                <a:spcPts val="300"/>
              </a:spcAft>
              <a:defRPr sz="700">
                <a:solidFill>
                  <a:srgbClr val="1A1C1B"/>
                </a:solidFill>
                <a:latin typeface="Arial"/>
              </a:defRPr>
            </a:pPr>
            <a:r>
              <a:t>• Hardware CapEx: Modular Hubs Rs. 3L–8L (scaled to daily load)</a:t>
            </a:r>
            <a:br/>
            <a:r>
              <a:t>• Monthly AMC Retainer: Rs. 5,000–10,000/mo (consumables, buffers &amp; telemetry)</a:t>
            </a:r>
            <a:br/>
            <a:r>
              <a:t>• Shared Offtake: Monetizing dry baled recyclables</a:t>
            </a:r>
            <a:br/>
            <a:r>
              <a:t>• Displaces commercial LPG and slashes private hauling bills by 50% to 60%.</a:t>
            </a:r>
            <a:br/>
            <a:r>
              <a:t>• Immediate positive cashflow from Month 1 of operation.</a:t>
            </a:r>
          </a:p>
          <a:p>
            <a:pPr>
              <a:defRPr sz="720" b="1">
                <a:solidFill>
                  <a:srgbClr val="137547"/>
                </a:solidFill>
                <a:latin typeface="Arial"/>
              </a:defRPr>
            </a:pPr>
            <a:r>
              <a:t>💰 Displaces Rs. 1L+/mo Sunk OpEx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4000" y="4279392"/>
            <a:ext cx="2057400" cy="1938528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0" y="4279392"/>
            <a:ext cx="2057400" cy="457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0" y="4352544"/>
            <a:ext cx="187451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B45309"/>
                </a:solidFill>
                <a:latin typeface="Arial"/>
              </a:defRPr>
            </a:pPr>
            <a:r>
              <a:t>PAYBACK &amp; UNIT RETURNS</a:t>
            </a:r>
          </a:p>
          <a:p>
            <a:pPr>
              <a:spcAft>
                <a:spcPts val="200"/>
              </a:spcAft>
              <a:defRPr sz="750" b="1">
                <a:solidFill>
                  <a:srgbClr val="1A1C1B"/>
                </a:solidFill>
                <a:latin typeface="Arial"/>
              </a:defRPr>
            </a:pPr>
            <a:r>
              <a:t>Compelling Unit Returns</a:t>
            </a:r>
          </a:p>
          <a:p>
            <a:pPr>
              <a:spcAft>
                <a:spcPts val="300"/>
              </a:spcAft>
              <a:defRPr sz="700">
                <a:solidFill>
                  <a:srgbClr val="1A1C1B"/>
                </a:solidFill>
                <a:latin typeface="Arial"/>
              </a:defRPr>
            </a:pPr>
            <a:r>
              <a:t>• Campuses recover capital in 16–20 months</a:t>
            </a:r>
            <a:br/>
            <a:r>
              <a:t>• Societies recover capital in 18–24 months</a:t>
            </a:r>
            <a:br/>
            <a:r>
              <a:t>• EcoBin gross margin: 40% CapEx, 65% AMC</a:t>
            </a:r>
            <a:br/>
            <a:r>
              <a:t>• Daily embedded mess utility ensures near-zero churn and locked-in maintenance retainers.</a:t>
            </a:r>
            <a:br/>
            <a:r>
              <a:t>• High customer lifetime value with sticky annual renewals.</a:t>
            </a:r>
          </a:p>
          <a:p>
            <a:pPr>
              <a:defRPr sz="720" b="1">
                <a:solidFill>
                  <a:srgbClr val="B45309"/>
                </a:solidFill>
                <a:latin typeface="Arial"/>
              </a:defRPr>
            </a:pPr>
            <a:r>
              <a:t>📈 16–20 Month Full Payback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9184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05B34"/>
                </a:solidFill>
                <a:latin typeface="Arial"/>
              </a:defRPr>
            </a:pPr>
            <a:r>
              <a:t>MARKET OPPORTUNITY &amp; EXECUTION SEQUENCE</a:t>
            </a:r>
          </a:p>
          <a:p>
            <a:pPr>
              <a:spcAft>
                <a:spcPts val="200"/>
              </a:spcAft>
              <a:defRPr sz="1900" b="1">
                <a:solidFill>
                  <a:srgbClr val="1A1C1B"/>
                </a:solidFill>
                <a:latin typeface="Arial"/>
              </a:defRPr>
            </a:pPr>
            <a:r>
              <a:t>Rs. 14,200 Cr Addressable Market Driven by SWM 2016 Enforcement</a:t>
            </a:r>
          </a:p>
          <a:p>
            <a:pPr>
              <a:defRPr sz="950">
                <a:solidFill>
                  <a:srgbClr val="555C5A"/>
                </a:solidFill>
                <a:latin typeface="Arial"/>
              </a:defRPr>
            </a:pPr>
            <a:r>
              <a:t>A bottom-up market sizing combined with a disciplined, pilot-led customer acquisition roadmap.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5212080" cy="4892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005B34"/>
                </a:solidFill>
                <a:latin typeface="Arial"/>
              </a:defRPr>
            </a:pPr>
            <a:r>
              <a:t>CONCENTRIC MARKET SIZING (BOTTOM-UP CALCULATION)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4846320" cy="1133856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93392"/>
            <a:ext cx="462686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1A1C1B"/>
                </a:solidFill>
                <a:latin typeface="Arial"/>
              </a:defRPr>
            </a:pPr>
            <a:r>
              <a:t>TAM — TOTAL ADDRESSABLE MARKET: Rs. 14,200 Cr ($1.7B)</a:t>
            </a:r>
          </a:p>
          <a:p>
            <a:pPr>
              <a:spcAft>
                <a:spcPts val="300"/>
              </a:spcAft>
              <a:defRPr sz="710">
                <a:solidFill>
                  <a:srgbClr val="1A1C1B"/>
                </a:solidFill>
                <a:latin typeface="Arial"/>
              </a:defRPr>
            </a:pPr>
            <a:r>
              <a:t>• Target Base: All ~120,000 Bulk Waste Generators (&gt;100 kg/day) across Urban India mandated by Solid Waste Management Rules 2016 to treat organic wet waste on-site.</a:t>
            </a:r>
            <a:br/>
            <a:r>
              <a:t>• Unit Value: 120,000 BWGs × Rs. 1.18 Lakhs annualized blended hardware amortized &amp; recurring maintenance contract value.</a:t>
            </a:r>
            <a:br/>
            <a:r>
              <a:t>• Market Drivers: National landfill dumping bans, rising diesel haulage surcharges, and escalating NGT legal penalties.</a:t>
            </a:r>
          </a:p>
          <a:p>
            <a:pPr>
              <a:defRPr sz="720" b="1">
                <a:solidFill>
                  <a:srgbClr val="1A1C1B"/>
                </a:solidFill>
                <a:latin typeface="Arial"/>
              </a:defRPr>
            </a:pPr>
            <a:r>
              <a:t>🌐 120,000 Mandated Indian Bulk Generators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127248"/>
            <a:ext cx="4846320" cy="1133856"/>
          </a:xfrm>
          <a:prstGeom prst="roundRect">
            <a:avLst>
              <a:gd name="adj" fmla="val 3500"/>
            </a:avLst>
          </a:prstGeom>
          <a:solidFill>
            <a:srgbClr val="ECF8F1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200400"/>
            <a:ext cx="462686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05B34"/>
                </a:solidFill>
                <a:latin typeface="Arial"/>
              </a:defRPr>
            </a:pPr>
            <a:r>
              <a:t>SAM — SERVICEABLE AVAILABLE MARKET: Rs. 3,200 Cr ($385M)</a:t>
            </a:r>
          </a:p>
          <a:p>
            <a:pPr>
              <a:spcAft>
                <a:spcPts val="300"/>
              </a:spcAft>
              <a:defRPr sz="710">
                <a:solidFill>
                  <a:srgbClr val="1A1C1B"/>
                </a:solidFill>
                <a:latin typeface="Arial"/>
              </a:defRPr>
            </a:pPr>
            <a:r>
              <a:t>• Target Base: 25,000 high-density gated residential societies (500+ flats) and accredited university campuses with residential hostels in top 8 Tier-1 urban clusters.</a:t>
            </a:r>
            <a:br/>
            <a:r>
              <a:t>• Unit Value: 25,000 target institutional sites × Rs. 1.28 Lakhs blended annual contract value.</a:t>
            </a:r>
            <a:br/>
            <a:r>
              <a:t>• Market Drivers: Strict municipal audit enforcement in Delhi-NCR, Bengaluru, Mumbai, and Hyderabad.</a:t>
            </a:r>
          </a:p>
          <a:p>
            <a:pPr>
              <a:defRPr sz="720" b="1">
                <a:solidFill>
                  <a:srgbClr val="005B34"/>
                </a:solidFill>
                <a:latin typeface="Arial"/>
              </a:defRPr>
            </a:pPr>
            <a:r>
              <a:t>🎯 25,000 High-Density Tier-1 Campuses &amp; Societies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334256"/>
            <a:ext cx="4846320" cy="113385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137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4407408"/>
            <a:ext cx="462686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137547"/>
                </a:solidFill>
                <a:latin typeface="Arial"/>
              </a:defRPr>
            </a:pPr>
            <a:r>
              <a:t>SOM — SERVICEABLE OBTAINABLE MARKET (3-YEAR): Rs. 95 Cr ($11.5M)</a:t>
            </a:r>
          </a:p>
          <a:p>
            <a:pPr>
              <a:spcAft>
                <a:spcPts val="300"/>
              </a:spcAft>
              <a:defRPr sz="710">
                <a:solidFill>
                  <a:srgbClr val="1A1C1B"/>
                </a:solidFill>
                <a:latin typeface="Arial"/>
              </a:defRPr>
            </a:pPr>
            <a:r>
              <a:t>• Target Base: 300 university campus deployments + 500 premium gated societies across Delhi-NCR and Bengaluru clusters via direct institutional sales &amp; RWA channel partners.</a:t>
            </a:r>
            <a:br/>
            <a:r>
              <a:t>• Unit Value: 800 deployed sites generating hardware CapEx and multi-year recurring AMC retainers.</a:t>
            </a:r>
            <a:br/>
            <a:r>
              <a:t>• Market Drivers: Demonstrated operational savings at campus living labs powering rapid multi-city expansion.</a:t>
            </a:r>
          </a:p>
          <a:p>
            <a:pPr>
              <a:defRPr sz="720" b="1">
                <a:solidFill>
                  <a:srgbClr val="137547"/>
                </a:solidFill>
                <a:latin typeface="Arial"/>
              </a:defRPr>
            </a:pPr>
            <a:r>
              <a:t>🚀 800 High-Margin Beachhead Deployments (3-Yr Target)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76072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00" b="1">
                <a:solidFill>
                  <a:srgbClr val="555C5A"/>
                </a:solidFill>
                <a:latin typeface="Arial"/>
              </a:defRPr>
            </a:pPr>
            <a:r>
              <a:t>Sources: MoHUA Solid Waste Management Rules 2016 Portal; CPCB Annual MSW Report 2022-23; Knight Frank India Residential Report.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417320"/>
            <a:ext cx="5333695" cy="4892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554480"/>
            <a:ext cx="493776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005B34"/>
                </a:solidFill>
                <a:latin typeface="Arial"/>
              </a:defRPr>
            </a:pPr>
            <a:r>
              <a:t>GO-TO-MARKET (GTM) EXECUTION ROADMAP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901952"/>
            <a:ext cx="4967935" cy="1042415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901952"/>
            <a:ext cx="73152" cy="1042415"/>
          </a:xfrm>
          <a:prstGeom prst="rect">
            <a:avLst/>
          </a:prstGeom>
          <a:solidFill>
            <a:srgbClr val="137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1956816"/>
            <a:ext cx="4681728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19" b="1">
                <a:solidFill>
                  <a:srgbClr val="137547"/>
                </a:solidFill>
                <a:latin typeface="Arial"/>
              </a:defRPr>
            </a:pPr>
            <a:r>
              <a:t>STAGE 1: BEACHHEAD LIVING LAB TESTBED [Months 0–6]</a:t>
            </a:r>
          </a:p>
          <a:p>
            <a:pPr>
              <a:defRPr sz="700">
                <a:solidFill>
                  <a:srgbClr val="1A1C1B"/>
                </a:solidFill>
                <a:latin typeface="Arial"/>
              </a:defRPr>
            </a:pPr>
            <a:r>
              <a:t>• Operational testbed deployed at University Hostel Canteen (250 kg/day plate waste).</a:t>
            </a:r>
            <a:br/>
            <a:r>
              <a:t>• Validates 28 LPG cylinders displaced monthly; secures documented NAAC Green credentials.</a:t>
            </a:r>
            <a:br/>
            <a:r>
              <a:t>• Refines automated pH buffering telemetry under live monsoon mess conditions.</a:t>
            </a:r>
            <a:br/>
            <a:r>
              <a:t>• Target: Documented case study with certified Rs. 1L/mo operational savings.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017520"/>
            <a:ext cx="4967935" cy="1042415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017520"/>
            <a:ext cx="73152" cy="1042415"/>
          </a:xfrm>
          <a:prstGeom prst="rect">
            <a:avLst/>
          </a:prstGeom>
          <a:solidFill>
            <a:srgbClr val="1A1C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3072384"/>
            <a:ext cx="4681728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19" b="1">
                <a:solidFill>
                  <a:srgbClr val="1A1C1B"/>
                </a:solidFill>
                <a:latin typeface="Arial"/>
              </a:defRPr>
            </a:pPr>
            <a:r>
              <a:t>STAGE 2: ACADEMIC &amp; CAMPUS EXPANSION [Months 6–12]</a:t>
            </a:r>
          </a:p>
          <a:p>
            <a:pPr>
              <a:defRPr sz="700">
                <a:solidFill>
                  <a:srgbClr val="1A1C1B"/>
                </a:solidFill>
                <a:latin typeface="Arial"/>
              </a:defRPr>
            </a:pPr>
            <a:r>
              <a:t>• Direct institutional B2B sales to higher-education private universities across Tier-1 higher-ed corridors.</a:t>
            </a:r>
            <a:br/>
            <a:r>
              <a:t>• Centralized Campus Director approvals eliminate procurement committee delays.</a:t>
            </a:r>
            <a:br/>
            <a:r>
              <a:t>• Leverage referenceable pilot testbed data to close 20 campus contracts.</a:t>
            </a:r>
            <a:br/>
            <a:r>
              <a:t>• Target: 20 deployed institutional hubs generating Rs. 1.2 Cr in CapEx &amp; recurring AMC.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133087"/>
            <a:ext cx="4967935" cy="1042415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4133087"/>
            <a:ext cx="73152" cy="1042415"/>
          </a:xfrm>
          <a:prstGeom prst="rect">
            <a:avLst/>
          </a:prstGeom>
          <a:solidFill>
            <a:srgbClr val="1A1C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4187951"/>
            <a:ext cx="4681728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19" b="1">
                <a:solidFill>
                  <a:srgbClr val="1A1C1B"/>
                </a:solidFill>
                <a:latin typeface="Arial"/>
              </a:defRPr>
            </a:pPr>
            <a:r>
              <a:t>STAGE 3: RWA &amp; TOWNSHIP CHANNEL PARTNERSHIPS [Months 12–24]</a:t>
            </a:r>
          </a:p>
          <a:p>
            <a:pPr>
              <a:defRPr sz="700">
                <a:solidFill>
                  <a:srgbClr val="1A1C1B"/>
                </a:solidFill>
                <a:latin typeface="Arial"/>
              </a:defRPr>
            </a:pPr>
            <a:r>
              <a:t>• Partner with facility management firms (JLL, CBRE) and RWA federations facing municipal SWM notices.</a:t>
            </a:r>
            <a:br/>
            <a:r>
              <a:t>• Offer modular hub installations funded via regular resident society maintenance funds.</a:t>
            </a:r>
            <a:br/>
            <a:r>
              <a:t>• Standardized modular design enables 48-hour turn-key installation per society.</a:t>
            </a:r>
            <a:br/>
            <a:r>
              <a:t>• Target: 150 residential societies across NCR and Bengaluru tech corridors.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5248656"/>
            <a:ext cx="4967935" cy="1042415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5248656"/>
            <a:ext cx="73152" cy="1042415"/>
          </a:xfrm>
          <a:prstGeom prst="rect">
            <a:avLst/>
          </a:prstGeom>
          <a:solidFill>
            <a:srgbClr val="005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5303520"/>
            <a:ext cx="4681728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19" b="1">
                <a:solidFill>
                  <a:srgbClr val="005B34"/>
                </a:solidFill>
                <a:latin typeface="Arial"/>
              </a:defRPr>
            </a:pPr>
            <a:r>
              <a:t>STAGE 4: RECYCLABLE OFFTAKE &amp; AMC SCALE [Year 2+]</a:t>
            </a:r>
          </a:p>
          <a:p>
            <a:pPr>
              <a:defRPr sz="700">
                <a:solidFill>
                  <a:srgbClr val="1A1C1B"/>
                </a:solidFill>
                <a:latin typeface="Arial"/>
              </a:defRPr>
            </a:pPr>
            <a:r>
              <a:t>• Aggregate high-purity dry recyclable bales (PET, aluminum) for industrial off-take contracts.</a:t>
            </a:r>
            <a:br/>
            <a:r>
              <a:t>• Lock in multi-year recurring maintenance retainers with embedded utility dependency.</a:t>
            </a:r>
            <a:br/>
            <a:r>
              <a:t>• Expand footprint into Bengaluru and Mumbai urban clusters with regional assembly hubs.</a:t>
            </a:r>
            <a:br/>
            <a:r>
              <a:t>• Target: 800+ installed nodes achieving Rs. 95 Cr SOM with 68% blended AMC margins.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9184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05B34"/>
                </a:solidFill>
                <a:latin typeface="Arial"/>
              </a:defRPr>
            </a:pPr>
            <a:r>
              <a:t>REVENUE STRUCTURE &amp; FINANCIAL VIABILITY</a:t>
            </a:r>
          </a:p>
          <a:p>
            <a:pPr>
              <a:spcAft>
                <a:spcPts val="200"/>
              </a:spcAft>
              <a:defRPr sz="1900" b="1">
                <a:solidFill>
                  <a:srgbClr val="1A1C1B"/>
                </a:solidFill>
                <a:latin typeface="Arial"/>
              </a:defRPr>
            </a:pPr>
            <a:r>
              <a:t>Dual-Stream Revenue Model with Compelling Unit Economics</a:t>
            </a:r>
          </a:p>
          <a:p>
            <a:pPr>
              <a:defRPr sz="950">
                <a:solidFill>
                  <a:srgbClr val="555C5A"/>
                </a:solidFill>
                <a:latin typeface="Arial"/>
              </a:defRPr>
            </a:pPr>
            <a:r>
              <a:t>Hardware capital recovery combined with recurring maintenance retainers and recyclable material monetization.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5212080" cy="4892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005B34"/>
                </a:solidFill>
                <a:latin typeface="Arial"/>
              </a:defRPr>
            </a:pPr>
            <a:r>
              <a:t>1. REVENUE STREAMS &amp; COMMERCIAL RELATIONSHIPS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01952"/>
            <a:ext cx="4846320" cy="621792"/>
          </a:xfrm>
          <a:prstGeom prst="roundRect">
            <a:avLst>
              <a:gd name="adj" fmla="val 3500"/>
            </a:avLst>
          </a:prstGeom>
          <a:solidFill>
            <a:srgbClr val="ECF8F1"/>
          </a:solidFill>
          <a:ln w="12700">
            <a:solidFill>
              <a:srgbClr val="80D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47672"/>
            <a:ext cx="475488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005B34"/>
                </a:solidFill>
                <a:latin typeface="Arial"/>
              </a:defRPr>
            </a:pPr>
            <a:r>
              <a:t>Paying Customer (Campus/RWA) ➔ [Hardware CapEx + Monthly AMC] ➔ EcoBin Platform</a:t>
            </a:r>
            <a:br/>
            <a:r>
              <a:t>+ Industrial Recyclers ➔ [Clean Recyclable Offtake] ➔ Shared Material Revenue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615184"/>
            <a:ext cx="4846320" cy="1133856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660903"/>
            <a:ext cx="4626864" cy="10424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19" b="1">
                <a:solidFill>
                  <a:srgbClr val="1A1C1B"/>
                </a:solidFill>
                <a:latin typeface="Arial"/>
              </a:defRPr>
            </a:pPr>
            <a:r>
              <a:t>Stream 1: Hardware Sales (CapEx Deployment) [📦 Core Equipment Deployment]</a:t>
            </a:r>
          </a:p>
          <a:p>
            <a:pPr>
              <a:defRPr sz="700">
                <a:solidFill>
                  <a:srgbClr val="1A1C1B"/>
                </a:solidFill>
                <a:latin typeface="Arial"/>
              </a:defRPr>
            </a:pPr>
            <a:r>
              <a:t>• EcoBin Society Hub: Rs. 3,00,000 – 8,00,000 per installation (100–500 kg/day capacity)</a:t>
            </a:r>
            <a:br/>
            <a:r>
              <a:t>• EcoBin Family Appliance: Rs. 40,000 – 60,000 for villas and luxury residential units</a:t>
            </a:r>
            <a:br/>
            <a:r>
              <a:t>• Blended Gross Margin: ~38–42% achieved via localized fabrication and standard components</a:t>
            </a:r>
            <a:br/>
            <a:r>
              <a:t>• Payment Terms: 50% advance upon contract signing, 50% upon on-site commissioning</a:t>
            </a:r>
            <a:br/>
            <a:r>
              <a:t>• Deployment Timeline: 3–5 days modular plug-and-play installation per campus hub.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822191"/>
            <a:ext cx="4846320" cy="1133856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867911"/>
            <a:ext cx="4626864" cy="10424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19" b="1">
                <a:solidFill>
                  <a:srgbClr val="137547"/>
                </a:solidFill>
                <a:latin typeface="Arial"/>
              </a:defRPr>
            </a:pPr>
            <a:r>
              <a:t>Stream 2: Recurring AMC Retainer (Predictable OpEx) [🔄 Sticky High-Margin SaaS/AMC]</a:t>
            </a:r>
          </a:p>
          <a:p>
            <a:pPr>
              <a:defRPr sz="700">
                <a:solidFill>
                  <a:srgbClr val="1A1C1B"/>
                </a:solidFill>
                <a:latin typeface="Arial"/>
              </a:defRPr>
            </a:pPr>
            <a:r>
              <a:t>• Contract Value: Rs. 5,000 – 10,000 / month per installed campus hub</a:t>
            </a:r>
            <a:br/>
            <a:r>
              <a:t>• Consumables Included: Bacterial methanogen refills, pH buffers, activated carbon filters</a:t>
            </a:r>
            <a:br/>
            <a:r>
              <a:t>• Software &amp; Telemetry: Remote cloud monitoring, preventative quarterly servicing, souring alerts</a:t>
            </a:r>
            <a:br/>
            <a:r>
              <a:t>• Blended Gross Margin: 65%–70% high-margin recurring cash flow with near-zero churn</a:t>
            </a:r>
            <a:br/>
            <a:r>
              <a:t>• Sticky Utility Dependency: Embedded mess reliance ensures &gt;98% contract renewal rate.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029200"/>
            <a:ext cx="4846320" cy="1133856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5074920"/>
            <a:ext cx="4626864" cy="10424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19" b="1">
                <a:solidFill>
                  <a:srgbClr val="B45309"/>
                </a:solidFill>
                <a:latin typeface="Arial"/>
              </a:defRPr>
            </a:pPr>
            <a:r>
              <a:t>Stream 3: Recyclable Offtake Partnership [♻️ Clean Material Monetization]</a:t>
            </a:r>
          </a:p>
          <a:p>
            <a:pPr>
              <a:defRPr sz="700">
                <a:solidFill>
                  <a:srgbClr val="1A1C1B"/>
                </a:solidFill>
                <a:latin typeface="Arial"/>
              </a:defRPr>
            </a:pPr>
            <a:r>
              <a:t>• Aggregated Purity: Clean, uncontaminated PET, cardboard, and aluminum bales</a:t>
            </a:r>
            <a:br/>
            <a:r>
              <a:t>• Offtake Contracts: Sold directly to industrial paper mills and plastic recyclers</a:t>
            </a:r>
            <a:br/>
            <a:r>
              <a:t>• Shared Economics: Generates +Rs. 12,000–25,000/mo shared revenue between client &amp; EcoBin</a:t>
            </a:r>
            <a:br/>
            <a:r>
              <a:t>• ESG Dividend: Enables verified circular economy compliance and EPR carbon credits</a:t>
            </a:r>
            <a:br/>
            <a:r>
              <a:t>• Collection Cadence: Scheduled bi-weekly collection with certified weigh manifests.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5333695" cy="4892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554480"/>
            <a:ext cx="493776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005B34"/>
                </a:solidFill>
                <a:latin typeface="Arial"/>
              </a:defRPr>
            </a:pPr>
            <a:r>
              <a:t>2. REPRESENTATIVE CAMPUS UNIT ECONOMICS &amp; FINANCIAL RETURNS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83664"/>
            <a:ext cx="4967935" cy="2029968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929384"/>
            <a:ext cx="4709160" cy="19385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19" b="1">
                <a:solidFill>
                  <a:srgbClr val="005B34"/>
                </a:solidFill>
                <a:latin typeface="Arial"/>
              </a:defRPr>
            </a:pPr>
            <a:r>
              <a:t>CAMPUS TESTBED PROFILE (250 kg/day bulk plate waste):</a:t>
            </a:r>
          </a:p>
          <a:p>
            <a:pPr>
              <a:defRPr sz="770" b="1">
                <a:solidFill>
                  <a:srgbClr val="BA1A1A"/>
                </a:solidFill>
                <a:latin typeface="Arial"/>
              </a:defRPr>
            </a:pPr>
            <a:r>
              <a:t>• Status Quo Sunk Hauling + LPG Drain:       Rs. 1,01,000 / month</a:t>
            </a:r>
          </a:p>
          <a:p>
            <a:pPr>
              <a:defRPr sz="770" b="0">
                <a:solidFill>
                  <a:srgbClr val="1A1C1B"/>
                </a:solidFill>
                <a:latin typeface="Arial"/>
              </a:defRPr>
            </a:pPr>
            <a:r>
              <a:t>• Avoided Diesel Hauling Contracts:          Rs. 45,000 / month</a:t>
            </a:r>
          </a:p>
          <a:p>
            <a:pPr>
              <a:defRPr sz="770" b="0">
                <a:solidFill>
                  <a:srgbClr val="1A1C1B"/>
                </a:solidFill>
                <a:latin typeface="Arial"/>
              </a:defRPr>
            </a:pPr>
            <a:r>
              <a:t>• Commercial LPG Replaced (~28 Cylinders):   Rs. 56,000 / month</a:t>
            </a:r>
          </a:p>
          <a:p>
            <a:pPr>
              <a:defRPr sz="770" b="0">
                <a:solidFill>
                  <a:srgbClr val="1A1C1B"/>
                </a:solidFill>
                <a:latin typeface="Arial"/>
              </a:defRPr>
            </a:pPr>
            <a:r>
              <a:t>• Clean Recyclables &amp; Bio-Fertilizer Value:  +Rs. 6,500 / month</a:t>
            </a:r>
          </a:p>
          <a:p>
            <a:pPr>
              <a:defRPr sz="770" b="0">
                <a:solidFill>
                  <a:srgbClr val="1A1C1B"/>
                </a:solidFill>
                <a:latin typeface="Arial"/>
              </a:defRPr>
            </a:pPr>
            <a:r>
              <a:t>• Gross Monthly Utility Generated:           Rs. 1,07,500 / month</a:t>
            </a:r>
          </a:p>
          <a:p>
            <a:pPr>
              <a:defRPr sz="770" b="0">
                <a:solidFill>
                  <a:srgbClr val="1A1C1B"/>
                </a:solidFill>
                <a:latin typeface="Arial"/>
              </a:defRPr>
            </a:pPr>
            <a:r>
              <a:t>• Less Monthly EcoBin AMC Retainer Fee:      −Rs. 7,500 / month</a:t>
            </a:r>
          </a:p>
          <a:p>
            <a:pPr>
              <a:defRPr sz="770" b="1">
                <a:solidFill>
                  <a:srgbClr val="005B34"/>
                </a:solidFill>
                <a:latin typeface="Arial"/>
              </a:defRPr>
            </a:pPr>
            <a:r>
              <a:t>• NET MONTHLY CUSTOMER CASH BENEFIT:         Rs. 1,00,000 / month</a:t>
            </a:r>
          </a:p>
          <a:p>
            <a:pPr>
              <a:defRPr sz="770" b="1">
                <a:solidFill>
                  <a:srgbClr val="1A1C1B"/>
                </a:solidFill>
                <a:latin typeface="Arial"/>
              </a:defRPr>
            </a:pPr>
            <a:r>
              <a:t>• ANNUALIZED OPERATIONAL GAIN:               Rs. 12,00,000 / year</a:t>
            </a:r>
          </a:p>
          <a:p>
            <a:pPr>
              <a:spcBef>
                <a:spcPts val="200"/>
              </a:spcBef>
              <a:defRPr sz="800" b="1">
                <a:solidFill>
                  <a:srgbClr val="137547"/>
                </a:solidFill>
                <a:latin typeface="Arial"/>
              </a:defRPr>
            </a:pPr>
            <a:r>
              <a:t>➔ Capital Payback Period: 16 to 20 Months (Fully recovered via operational savings)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977639"/>
            <a:ext cx="4967935" cy="868680"/>
          </a:xfrm>
          <a:prstGeom prst="roundRect">
            <a:avLst>
              <a:gd name="adj" fmla="val 3500"/>
            </a:avLst>
          </a:prstGeom>
          <a:solidFill>
            <a:srgbClr val="ECF8F1"/>
          </a:solidFill>
          <a:ln w="12700">
            <a:solidFill>
              <a:srgbClr val="80D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032504"/>
            <a:ext cx="470916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19" b="1">
                <a:solidFill>
                  <a:srgbClr val="005B34"/>
                </a:solidFill>
                <a:latin typeface="Arial"/>
              </a:defRPr>
            </a:pPr>
            <a:r>
              <a:t>INVESTOR UNIT ECONOMICS &amp; MARGIN PROFILE</a:t>
            </a:r>
          </a:p>
          <a:p>
            <a:pPr>
              <a:defRPr sz="720">
                <a:solidFill>
                  <a:srgbClr val="1A1C1B"/>
                </a:solidFill>
                <a:latin typeface="Arial"/>
              </a:defRPr>
            </a:pPr>
            <a:r>
              <a:t>• Blended Hardware Gross Margin: ~40% (direct modular assembly)</a:t>
            </a:r>
            <a:br/>
            <a:r>
              <a:t>• Recurring AMC Gross Margin: 65%–70%  •  Target LTV/CAC: &gt;6.8x</a:t>
            </a:r>
            <a:br/>
            <a:r>
              <a:t>• Essential Utility Embeddedness: &lt;1.5% churn due to daily kitchen reliance.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910328"/>
            <a:ext cx="4967935" cy="1325880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965192"/>
            <a:ext cx="4709160" cy="1216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19" b="1">
                <a:solidFill>
                  <a:srgbClr val="555C5A"/>
                </a:solidFill>
                <a:latin typeface="Arial"/>
              </a:defRPr>
            </a:pPr>
            <a:r>
              <a:t>BUSINESS MODEL SUSTAINABILITY &amp; COMPETITIVE MOAT:</a:t>
            </a:r>
          </a:p>
          <a:p>
            <a:pPr>
              <a:defRPr sz="710">
                <a:solidFill>
                  <a:srgbClr val="1A1C1B"/>
                </a:solidFill>
                <a:latin typeface="Arial"/>
              </a:defRPr>
            </a:pPr>
            <a:r>
              <a:t>• High Customer Retention: Biodigester directly powers mess cooking stoves; continuous utility reliance creates near-zero churn.</a:t>
            </a:r>
            <a:br/>
            <a:r>
              <a:t>• Recurring Maintenance Retainer: Consumables (microbial refills, pH buffers, activated filters) lock in sticky high-margin AMC revenue.</a:t>
            </a:r>
            <a:br/>
            <a:r>
              <a:t>• Intellectual Property: Proprietary edge-AI waste segmentation weights, automated pH buffer control loops, and low-viscosity micro-slurry milling.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9184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05B34"/>
                </a:solidFill>
                <a:latin typeface="Arial"/>
              </a:defRPr>
            </a:pPr>
            <a:r>
              <a:t>LIVE OPERATIONAL DEPLOYMENT &amp; TRACTION</a:t>
            </a:r>
          </a:p>
          <a:p>
            <a:pPr>
              <a:spcAft>
                <a:spcPts val="200"/>
              </a:spcAft>
              <a:defRPr sz="1900" b="1">
                <a:solidFill>
                  <a:srgbClr val="1A1C1B"/>
                </a:solidFill>
                <a:latin typeface="Arial"/>
              </a:defRPr>
            </a:pPr>
            <a:r>
              <a:t>Active Testbed Validation: EcoBin is Already Operational — Not a Concept</a:t>
            </a:r>
          </a:p>
          <a:p>
            <a:pPr>
              <a:defRPr sz="950">
                <a:solidFill>
                  <a:srgbClr val="555C5A"/>
                </a:solidFill>
                <a:latin typeface="Arial"/>
              </a:defRPr>
            </a:pPr>
            <a:r>
              <a:t>Real hardware running live at scale, producing measurable energy outputs and verified financial savings.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5212080" cy="4892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mart_no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502920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14400" y="4133087"/>
            <a:ext cx="4846320" cy="621792"/>
          </a:xfrm>
          <a:prstGeom prst="roundRect">
            <a:avLst>
              <a:gd name="adj" fmla="val 3500"/>
            </a:avLst>
          </a:prstGeom>
          <a:solidFill>
            <a:srgbClr val="ECF8F1"/>
          </a:solidFill>
          <a:ln w="12700">
            <a:solidFill>
              <a:srgbClr val="80D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4187952"/>
            <a:ext cx="4626864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05B34"/>
                </a:solidFill>
                <a:latin typeface="Arial"/>
              </a:defRPr>
            </a:pPr>
            <a:r>
              <a:t>CAMPUS LIVING LAB TESTBED — LIVE OPERATIONAL METRICS</a:t>
            </a:r>
          </a:p>
          <a:p>
            <a:pPr>
              <a:defRPr sz="750">
                <a:solidFill>
                  <a:srgbClr val="1A1C1B"/>
                </a:solidFill>
                <a:latin typeface="Arial"/>
              </a:defRPr>
            </a:pPr>
            <a:r>
              <a:t>Deployed: Institutional Hostel Canteen Testbed  |  Status: Continuous Live Operation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828032"/>
            <a:ext cx="2148840" cy="749808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005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882896"/>
            <a:ext cx="19659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05B34"/>
                </a:solidFill>
                <a:latin typeface="Arial"/>
              </a:defRPr>
            </a:pPr>
            <a:r>
              <a:t>250 kg/day</a:t>
            </a:r>
          </a:p>
          <a:p>
            <a:pPr>
              <a:defRPr sz="720">
                <a:solidFill>
                  <a:srgbClr val="1A1C1B"/>
                </a:solidFill>
                <a:latin typeface="Arial"/>
              </a:defRPr>
            </a:pPr>
            <a:r>
              <a:t>Bulk Plate Waste</a:t>
            </a:r>
            <a:br/>
            <a:r>
              <a:t>Processed Daily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4828032"/>
            <a:ext cx="2148840" cy="749808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137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4882896"/>
            <a:ext cx="19659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37547"/>
                </a:solidFill>
                <a:latin typeface="Arial"/>
              </a:defRPr>
            </a:pPr>
            <a:r>
              <a:t>28 LPG Cylinders</a:t>
            </a:r>
          </a:p>
          <a:p>
            <a:pPr>
              <a:defRPr sz="720">
                <a:solidFill>
                  <a:srgbClr val="1A1C1B"/>
                </a:solidFill>
                <a:latin typeface="Arial"/>
              </a:defRPr>
            </a:pPr>
            <a:r>
              <a:t>Displaced Monthly</a:t>
            </a:r>
            <a:br/>
            <a:r>
              <a:t>Via Bio-Cooking Gas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669280"/>
            <a:ext cx="2148840" cy="749808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724144"/>
            <a:ext cx="19659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Arial"/>
              </a:defRPr>
            </a:pPr>
            <a:r>
              <a:t>&gt;98% Vision Acc.</a:t>
            </a:r>
          </a:p>
          <a:p>
            <a:pPr>
              <a:defRPr sz="720">
                <a:solidFill>
                  <a:srgbClr val="1A1C1B"/>
                </a:solidFill>
                <a:latin typeface="Arial"/>
              </a:defRPr>
            </a:pPr>
            <a:r>
              <a:t>Machine Vision</a:t>
            </a:r>
            <a:br/>
            <a:r>
              <a:t>Sort 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5669280"/>
            <a:ext cx="2148840" cy="749808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5724144"/>
            <a:ext cx="19659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B45309"/>
                </a:solidFill>
                <a:latin typeface="Arial"/>
              </a:defRPr>
            </a:pPr>
            <a:r>
              <a:t>Rs. 1L/mo</a:t>
            </a:r>
          </a:p>
          <a:p>
            <a:pPr>
              <a:defRPr sz="720">
                <a:solidFill>
                  <a:srgbClr val="1A1C1B"/>
                </a:solidFill>
                <a:latin typeface="Arial"/>
              </a:defRPr>
            </a:pPr>
            <a:r>
              <a:t>Verified Net Monthly</a:t>
            </a:r>
            <a:br/>
            <a:r>
              <a:t>Operational Savings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417320"/>
            <a:ext cx="5333695" cy="4892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554480"/>
            <a:ext cx="49377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005B34"/>
                </a:solidFill>
                <a:latin typeface="Arial"/>
              </a:defRPr>
            </a:pPr>
            <a:r>
              <a:t>VALIDATED TRACTION MILESTONES &amp; OPERATIONAL EVIDENCE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901952"/>
            <a:ext cx="4967935" cy="804672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901952"/>
            <a:ext cx="73152" cy="804672"/>
          </a:xfrm>
          <a:prstGeom prst="rect">
            <a:avLst/>
          </a:prstGeom>
          <a:solidFill>
            <a:srgbClr val="005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1947672"/>
            <a:ext cx="4681728" cy="722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19" b="1">
                <a:solidFill>
                  <a:srgbClr val="005B34"/>
                </a:solidFill>
                <a:latin typeface="Arial"/>
              </a:defRPr>
            </a:pPr>
            <a:r>
              <a:t>✅ Live Biodigester Running (250 kg/day)</a:t>
            </a:r>
          </a:p>
          <a:p>
            <a:pPr>
              <a:spcAft>
                <a:spcPts val="100"/>
              </a:spcAft>
              <a:defRPr sz="680">
                <a:solidFill>
                  <a:srgbClr val="1A1C1B"/>
                </a:solidFill>
                <a:latin typeface="Arial"/>
              </a:defRPr>
            </a:pPr>
            <a:r>
              <a:t>EcoBin Segregation + Biodigester Node is continuously operational at institutional hostel canteen testbed. Zero restarts in active monsoon season. Validated mesophilic stability at 37°C with automated pH buffer dosing preventing acid souring.</a:t>
            </a:r>
          </a:p>
          <a:p>
            <a:pPr>
              <a:defRPr sz="680" b="1">
                <a:solidFill>
                  <a:srgbClr val="005B34"/>
                </a:solidFill>
                <a:latin typeface="Arial"/>
              </a:defRPr>
            </a:pPr>
            <a:r>
              <a:t>[Continuous Runtime Validated]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779776"/>
            <a:ext cx="4967935" cy="804672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2779776"/>
            <a:ext cx="73152" cy="804672"/>
          </a:xfrm>
          <a:prstGeom prst="rect">
            <a:avLst/>
          </a:prstGeom>
          <a:solidFill>
            <a:srgbClr val="137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825496"/>
            <a:ext cx="4681728" cy="722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19" b="1">
                <a:solidFill>
                  <a:srgbClr val="137547"/>
                </a:solidFill>
                <a:latin typeface="Arial"/>
              </a:defRPr>
            </a:pPr>
            <a:r>
              <a:t>✅ 28 LPG Cylinders Displaced / Month</a:t>
            </a:r>
          </a:p>
          <a:p>
            <a:pPr>
              <a:spcAft>
                <a:spcPts val="100"/>
              </a:spcAft>
              <a:defRPr sz="680">
                <a:solidFill>
                  <a:srgbClr val="1A1C1B"/>
                </a:solidFill>
                <a:latin typeface="Arial"/>
              </a:defRPr>
            </a:pPr>
            <a:r>
              <a:t>Bio-cooking gas (65% CH4 purity) directly routed to campus kitchen stoves — eliminating Rs. 56,000/month in commercial LPG purchases. Cylinder count independently verified by campus canteen operations staff.</a:t>
            </a:r>
          </a:p>
          <a:p>
            <a:pPr>
              <a:defRPr sz="680" b="1">
                <a:solidFill>
                  <a:srgbClr val="137547"/>
                </a:solidFill>
                <a:latin typeface="Arial"/>
              </a:defRPr>
            </a:pPr>
            <a:r>
              <a:t>[Rs. 56,000/mo LPG Cost Eliminated]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3657600"/>
            <a:ext cx="4967935" cy="804672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3657600"/>
            <a:ext cx="73152" cy="80467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3703320"/>
            <a:ext cx="4681728" cy="722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19" b="1">
                <a:solidFill>
                  <a:srgbClr val="0284C7"/>
                </a:solidFill>
                <a:latin typeface="Arial"/>
              </a:defRPr>
            </a:pPr>
            <a:r>
              <a:t>✅ Machine Vision: &gt;98% Sort Accuracy</a:t>
            </a:r>
          </a:p>
          <a:p>
            <a:pPr>
              <a:spcAft>
                <a:spcPts val="100"/>
              </a:spcAft>
              <a:defRPr sz="680">
                <a:solidFill>
                  <a:srgbClr val="1A1C1B"/>
                </a:solidFill>
                <a:latin typeface="Arial"/>
              </a:defRPr>
            </a:pPr>
            <a:r>
              <a:t>ESP32-S3 embedded YOLOv8 model tested on 2,400+ waste classification events under live canteen conditions. Dry recyclable contamination reduced from 40% manual error baseline to &lt;2% with autonomous vision diverter.</a:t>
            </a:r>
          </a:p>
          <a:p>
            <a:pPr>
              <a:defRPr sz="680" b="1">
                <a:solidFill>
                  <a:srgbClr val="0284C7"/>
                </a:solidFill>
                <a:latin typeface="Arial"/>
              </a:defRPr>
            </a:pPr>
            <a:r>
              <a:t>[&lt;2% Contamination vs 40% Manual Baseline]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4535424"/>
            <a:ext cx="4967935" cy="804672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4535424"/>
            <a:ext cx="73152" cy="80467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4581144"/>
            <a:ext cx="4681728" cy="722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19" b="1">
                <a:solidFill>
                  <a:srgbClr val="B45309"/>
                </a:solidFill>
                <a:latin typeface="Arial"/>
              </a:defRPr>
            </a:pPr>
            <a:r>
              <a:t>✅ Rs. 1,00,000/month Net Savings Certified</a:t>
            </a:r>
          </a:p>
          <a:p>
            <a:pPr>
              <a:spcAft>
                <a:spcPts val="100"/>
              </a:spcAft>
              <a:defRPr sz="680">
                <a:solidFill>
                  <a:srgbClr val="1A1C1B"/>
                </a:solidFill>
                <a:latin typeface="Arial"/>
              </a:defRPr>
            </a:pPr>
            <a:r>
              <a:t>Consolidated operational benefit: Rs. 45k hauling contracts eliminated + Rs. 56k LPG displaced + Rs. 6.5k recyclable offtake — less Rs. 7,500 AMC. Savings formally documented in campus administrative expenditure records.</a:t>
            </a:r>
          </a:p>
          <a:p>
            <a:pPr>
              <a:defRPr sz="680" b="1">
                <a:solidFill>
                  <a:srgbClr val="B45309"/>
                </a:solidFill>
                <a:latin typeface="Arial"/>
              </a:defRPr>
            </a:pPr>
            <a:r>
              <a:t>[Rs. 12L/year Annualized Financial Benefit]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5413248"/>
            <a:ext cx="4967935" cy="804672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60" y="5413248"/>
            <a:ext cx="73152" cy="804672"/>
          </a:xfrm>
          <a:prstGeom prst="rect">
            <a:avLst/>
          </a:prstGeom>
          <a:solidFill>
            <a:srgbClr val="1A1C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3952" y="5458968"/>
            <a:ext cx="4681728" cy="722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19" b="1">
                <a:solidFill>
                  <a:srgbClr val="1A1C1B"/>
                </a:solidFill>
                <a:latin typeface="Arial"/>
              </a:defRPr>
            </a:pPr>
            <a:r>
              <a:t>✅ NAAC Green Campus Compliance Earned</a:t>
            </a:r>
          </a:p>
          <a:p>
            <a:pPr>
              <a:spcAft>
                <a:spcPts val="100"/>
              </a:spcAft>
              <a:defRPr sz="680">
                <a:solidFill>
                  <a:srgbClr val="1A1C1B"/>
                </a:solidFill>
                <a:latin typeface="Arial"/>
              </a:defRPr>
            </a:pPr>
            <a:r>
              <a:t>Deployment satisfies all Solid Waste Management Rules 2016 on-site treatment obligations for Bulk Waste Generators &gt;100 kg/day. Active in NAAC A++ audit cycle as a verified green infrastructure initiative.</a:t>
            </a:r>
          </a:p>
          <a:p>
            <a:pPr>
              <a:defRPr sz="680" b="1">
                <a:solidFill>
                  <a:srgbClr val="1A1C1B"/>
                </a:solidFill>
                <a:latin typeface="Arial"/>
              </a:defRPr>
            </a:pPr>
            <a:r>
              <a:t>[SWM 2016 Full Compliance — NGT Fine Immunity]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9184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05B34"/>
                </a:solidFill>
                <a:latin typeface="Arial"/>
              </a:defRPr>
            </a:pPr>
            <a:r>
              <a:t>COMPETITIVE LANDSCAPE &amp; DEFENSIBILITY</a:t>
            </a:r>
          </a:p>
          <a:p>
            <a:pPr>
              <a:spcAft>
                <a:spcPts val="200"/>
              </a:spcAft>
              <a:defRPr sz="1900" b="1">
                <a:solidFill>
                  <a:srgbClr val="1A1C1B"/>
                </a:solidFill>
                <a:latin typeface="Arial"/>
              </a:defRPr>
            </a:pPr>
            <a:r>
              <a:t>Why EcoBin Wins: Integrated Edge-AI + Closed-Loop Biodigestion Creates an Unassailable Moat</a:t>
            </a:r>
          </a:p>
          <a:p>
            <a:pPr>
              <a:defRPr sz="950">
                <a:solidFill>
                  <a:srgbClr val="555C5A"/>
                </a:solidFill>
                <a:latin typeface="Arial"/>
              </a:defRPr>
            </a:pPr>
            <a:r>
              <a:t>No competitor combines autonomous machine-vision segregation with in-situ closed-loop biodigestion at the source.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6583680" cy="4892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62179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005B34"/>
                </a:solidFill>
                <a:latin typeface="Arial"/>
              </a:defRPr>
            </a:pPr>
            <a:r>
              <a:t>FEATURE COMPARISON: ECOBIN vs. ALTERNATIVES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01952"/>
            <a:ext cx="2011680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56816"/>
            <a:ext cx="192024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20" b="1">
                <a:solidFill>
                  <a:srgbClr val="1A1C1B"/>
                </a:solidFill>
                <a:latin typeface="Arial"/>
              </a:defRPr>
            </a:pPr>
            <a:r>
              <a:t>Feature / Capability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4368" y="1901952"/>
            <a:ext cx="841248" cy="329184"/>
          </a:xfrm>
          <a:prstGeom prst="roundRect">
            <a:avLst>
              <a:gd name="adj" fmla="val 3500"/>
            </a:avLst>
          </a:prstGeom>
          <a:solidFill>
            <a:srgbClr val="005B34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0088" y="1956816"/>
            <a:ext cx="749808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20" b="1">
                <a:solidFill>
                  <a:srgbClr val="FFFFFF"/>
                </a:solidFill>
                <a:latin typeface="Arial"/>
              </a:defRPr>
            </a:pPr>
            <a:r>
              <a:t>EcoBin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85615" y="1901952"/>
            <a:ext cx="896112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31335" y="1956816"/>
            <a:ext cx="804672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20" b="1">
                <a:solidFill>
                  <a:srgbClr val="1A1C1B"/>
                </a:solidFill>
                <a:latin typeface="Arial"/>
              </a:defRPr>
            </a:pPr>
            <a:r>
              <a:t>Manual 2-Bin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81728" y="1901952"/>
            <a:ext cx="1024128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7448" y="1956816"/>
            <a:ext cx="932688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20" b="1">
                <a:solidFill>
                  <a:srgbClr val="1A1C1B"/>
                </a:solidFill>
                <a:latin typeface="Arial"/>
              </a:defRPr>
            </a:pPr>
            <a:r>
              <a:t>Composting Pit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05856" y="1901952"/>
            <a:ext cx="1261872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51576" y="1956816"/>
            <a:ext cx="1170431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20" b="1">
                <a:solidFill>
                  <a:srgbClr val="1A1C1B"/>
                </a:solidFill>
                <a:latin typeface="Arial"/>
              </a:defRPr>
            </a:pPr>
            <a:r>
              <a:t>Conventional Biogas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67728" y="1901952"/>
            <a:ext cx="1005840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13448" y="1956816"/>
            <a:ext cx="91440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20" b="1">
                <a:solidFill>
                  <a:srgbClr val="1A1C1B"/>
                </a:solidFill>
                <a:latin typeface="Arial"/>
              </a:defRPr>
            </a:pPr>
            <a:r>
              <a:t>Private Hauling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2267712"/>
            <a:ext cx="2011680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322576"/>
            <a:ext cx="192024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1">
                <a:solidFill>
                  <a:srgbClr val="1A1C1B"/>
                </a:solidFill>
                <a:latin typeface="Arial"/>
              </a:defRPr>
            </a:pPr>
            <a:r>
              <a:t>AI Machine-Vision Sort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4368" y="2267712"/>
            <a:ext cx="841248" cy="329184"/>
          </a:xfrm>
          <a:prstGeom prst="roundRect">
            <a:avLst>
              <a:gd name="adj" fmla="val 3500"/>
            </a:avLst>
          </a:prstGeom>
          <a:solidFill>
            <a:srgbClr val="ECF8F1"/>
          </a:solidFill>
          <a:ln w="12700">
            <a:solidFill>
              <a:srgbClr val="80D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90088" y="2322576"/>
            <a:ext cx="749808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1">
                <a:solidFill>
                  <a:srgbClr val="005B34"/>
                </a:solidFill>
                <a:latin typeface="Arial"/>
              </a:defRPr>
            </a:pPr>
            <a:r>
              <a:t>✅ &lt;150ms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85615" y="2267712"/>
            <a:ext cx="896112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31335" y="2322576"/>
            <a:ext cx="804672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Manual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81728" y="2267712"/>
            <a:ext cx="1024128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27448" y="2322576"/>
            <a:ext cx="932688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None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05856" y="2267712"/>
            <a:ext cx="1261872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51576" y="2322576"/>
            <a:ext cx="1170431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None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67728" y="2267712"/>
            <a:ext cx="1005840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13448" y="2322576"/>
            <a:ext cx="91440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None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2633472"/>
            <a:ext cx="2011680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2688336"/>
            <a:ext cx="192024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1">
                <a:solidFill>
                  <a:srgbClr val="1A1C1B"/>
                </a:solidFill>
                <a:latin typeface="Arial"/>
              </a:defRPr>
            </a:pPr>
            <a:r>
              <a:t>In-Situ Biogas Production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44368" y="2633472"/>
            <a:ext cx="841248" cy="329184"/>
          </a:xfrm>
          <a:prstGeom prst="roundRect">
            <a:avLst>
              <a:gd name="adj" fmla="val 3500"/>
            </a:avLst>
          </a:prstGeom>
          <a:solidFill>
            <a:srgbClr val="ECF8F1"/>
          </a:solidFill>
          <a:ln w="12700">
            <a:solidFill>
              <a:srgbClr val="80D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90088" y="2688336"/>
            <a:ext cx="749808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1">
                <a:solidFill>
                  <a:srgbClr val="005B34"/>
                </a:solidFill>
                <a:latin typeface="Arial"/>
              </a:defRPr>
            </a:pPr>
            <a:r>
              <a:t>✅ On-site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85615" y="2633472"/>
            <a:ext cx="896112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31335" y="2688336"/>
            <a:ext cx="804672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None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81728" y="2633472"/>
            <a:ext cx="1024128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27448" y="2688336"/>
            <a:ext cx="932688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None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05856" y="2633472"/>
            <a:ext cx="1261872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51576" y="2688336"/>
            <a:ext cx="1170431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45309"/>
                </a:solidFill>
                <a:latin typeface="Arial"/>
              </a:defRPr>
            </a:pPr>
            <a:r>
              <a:t>⚠️ Souring Risk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67728" y="2633472"/>
            <a:ext cx="1005840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13448" y="2688336"/>
            <a:ext cx="91440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None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" y="2999232"/>
            <a:ext cx="2011680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" y="3054096"/>
            <a:ext cx="192024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1">
                <a:solidFill>
                  <a:srgbClr val="1A1C1B"/>
                </a:solidFill>
                <a:latin typeface="Arial"/>
              </a:defRPr>
            </a:pPr>
            <a:r>
              <a:t>Wet Waste Diversion (On-Site)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944368" y="2999232"/>
            <a:ext cx="841248" cy="329184"/>
          </a:xfrm>
          <a:prstGeom prst="roundRect">
            <a:avLst>
              <a:gd name="adj" fmla="val 3500"/>
            </a:avLst>
          </a:prstGeom>
          <a:solidFill>
            <a:srgbClr val="ECF8F1"/>
          </a:solidFill>
          <a:ln w="12700">
            <a:solidFill>
              <a:srgbClr val="80D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90088" y="3054096"/>
            <a:ext cx="749808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1">
                <a:solidFill>
                  <a:srgbClr val="005B34"/>
                </a:solidFill>
                <a:latin typeface="Arial"/>
              </a:defRPr>
            </a:pPr>
            <a:r>
              <a:t>✅ 60%+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85615" y="2999232"/>
            <a:ext cx="896112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31335" y="3054096"/>
            <a:ext cx="804672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81728" y="2999232"/>
            <a:ext cx="1024128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27448" y="3054096"/>
            <a:ext cx="932688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45309"/>
                </a:solidFill>
                <a:latin typeface="Arial"/>
              </a:defRPr>
            </a:pPr>
            <a:r>
              <a:t>⚠️ Partial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705856" y="2999232"/>
            <a:ext cx="1261872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51576" y="3054096"/>
            <a:ext cx="1170431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45309"/>
                </a:solidFill>
                <a:latin typeface="Arial"/>
              </a:defRPr>
            </a:pPr>
            <a:r>
              <a:t>⚠️ Partial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967728" y="2999232"/>
            <a:ext cx="1005840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13448" y="3054096"/>
            <a:ext cx="91440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0%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4400" y="3364992"/>
            <a:ext cx="2011680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0120" y="3419856"/>
            <a:ext cx="192024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1">
                <a:solidFill>
                  <a:srgbClr val="1A1C1B"/>
                </a:solidFill>
                <a:latin typeface="Arial"/>
              </a:defRPr>
            </a:pPr>
            <a:r>
              <a:t>LPG Cost Eliminated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944368" y="3364992"/>
            <a:ext cx="841248" cy="329184"/>
          </a:xfrm>
          <a:prstGeom prst="roundRect">
            <a:avLst>
              <a:gd name="adj" fmla="val 3500"/>
            </a:avLst>
          </a:prstGeom>
          <a:solidFill>
            <a:srgbClr val="ECF8F1"/>
          </a:solidFill>
          <a:ln w="12700">
            <a:solidFill>
              <a:srgbClr val="80D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990088" y="3419856"/>
            <a:ext cx="749808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1">
                <a:solidFill>
                  <a:srgbClr val="005B34"/>
                </a:solidFill>
                <a:latin typeface="Arial"/>
              </a:defRPr>
            </a:pPr>
            <a:r>
              <a:t>✅ 28 cyl/mo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785615" y="3364992"/>
            <a:ext cx="896112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31335" y="3419856"/>
            <a:ext cx="804672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None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681728" y="3364992"/>
            <a:ext cx="1024128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27448" y="3419856"/>
            <a:ext cx="932688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None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705856" y="3364992"/>
            <a:ext cx="1261872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51576" y="3419856"/>
            <a:ext cx="1170431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45309"/>
                </a:solidFill>
                <a:latin typeface="Arial"/>
              </a:defRPr>
            </a:pPr>
            <a:r>
              <a:t>⚠️ Unstable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967728" y="3364992"/>
            <a:ext cx="1005840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13448" y="3419856"/>
            <a:ext cx="91440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None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14400" y="3730752"/>
            <a:ext cx="2011680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0120" y="3785615"/>
            <a:ext cx="192024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1">
                <a:solidFill>
                  <a:srgbClr val="1A1C1B"/>
                </a:solidFill>
                <a:latin typeface="Arial"/>
              </a:defRPr>
            </a:pPr>
            <a:r>
              <a:t>Zero Human Sorting Required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944368" y="3730752"/>
            <a:ext cx="841248" cy="329184"/>
          </a:xfrm>
          <a:prstGeom prst="roundRect">
            <a:avLst>
              <a:gd name="adj" fmla="val 3500"/>
            </a:avLst>
          </a:prstGeom>
          <a:solidFill>
            <a:srgbClr val="ECF8F1"/>
          </a:solidFill>
          <a:ln w="12700">
            <a:solidFill>
              <a:srgbClr val="80D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90088" y="3785615"/>
            <a:ext cx="749808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1">
                <a:solidFill>
                  <a:srgbClr val="005B34"/>
                </a:solidFill>
                <a:latin typeface="Arial"/>
              </a:defRPr>
            </a:pPr>
            <a:r>
              <a:t>✅ Full Auto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785615" y="3730752"/>
            <a:ext cx="896112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831335" y="3785615"/>
            <a:ext cx="804672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40% Fail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681728" y="3730752"/>
            <a:ext cx="1024128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727448" y="3785615"/>
            <a:ext cx="932688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Manual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705856" y="3730752"/>
            <a:ext cx="1261872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751576" y="3785615"/>
            <a:ext cx="1170431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Manual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967728" y="3730752"/>
            <a:ext cx="1005840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013448" y="3785615"/>
            <a:ext cx="91440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Manual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14400" y="4096512"/>
            <a:ext cx="2011680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0120" y="4151376"/>
            <a:ext cx="192024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1">
                <a:solidFill>
                  <a:srgbClr val="1A1C1B"/>
                </a:solidFill>
                <a:latin typeface="Arial"/>
              </a:defRPr>
            </a:pPr>
            <a:r>
              <a:t>SWM 2016 Compliance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944368" y="4096512"/>
            <a:ext cx="841248" cy="329184"/>
          </a:xfrm>
          <a:prstGeom prst="roundRect">
            <a:avLst>
              <a:gd name="adj" fmla="val 3500"/>
            </a:avLst>
          </a:prstGeom>
          <a:solidFill>
            <a:srgbClr val="ECF8F1"/>
          </a:solidFill>
          <a:ln w="12700">
            <a:solidFill>
              <a:srgbClr val="80D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990088" y="4151376"/>
            <a:ext cx="749808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1">
                <a:solidFill>
                  <a:srgbClr val="005B34"/>
                </a:solidFill>
                <a:latin typeface="Arial"/>
              </a:defRPr>
            </a:pPr>
            <a:r>
              <a:t>✅ Full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85615" y="4096512"/>
            <a:ext cx="896112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831335" y="4151376"/>
            <a:ext cx="804672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Partial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681728" y="4096512"/>
            <a:ext cx="1024128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727448" y="4151376"/>
            <a:ext cx="932688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45309"/>
                </a:solidFill>
                <a:latin typeface="Arial"/>
              </a:defRPr>
            </a:pPr>
            <a:r>
              <a:t>⚠️ Partial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705856" y="4096512"/>
            <a:ext cx="1261872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751576" y="4151376"/>
            <a:ext cx="1170431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45309"/>
                </a:solidFill>
                <a:latin typeface="Arial"/>
              </a:defRPr>
            </a:pPr>
            <a:r>
              <a:t>⚠️ Partial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967728" y="4096512"/>
            <a:ext cx="1005840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013448" y="4151376"/>
            <a:ext cx="91440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None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4462272"/>
            <a:ext cx="2011680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60120" y="4517136"/>
            <a:ext cx="192024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1">
                <a:solidFill>
                  <a:srgbClr val="1A1C1B"/>
                </a:solidFill>
                <a:latin typeface="Arial"/>
              </a:defRPr>
            </a:pPr>
            <a:r>
              <a:t>Recyclable Value Preserved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944368" y="4462272"/>
            <a:ext cx="841248" cy="329184"/>
          </a:xfrm>
          <a:prstGeom prst="roundRect">
            <a:avLst>
              <a:gd name="adj" fmla="val 3500"/>
            </a:avLst>
          </a:prstGeom>
          <a:solidFill>
            <a:srgbClr val="ECF8F1"/>
          </a:solidFill>
          <a:ln w="12700">
            <a:solidFill>
              <a:srgbClr val="80D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990088" y="4517136"/>
            <a:ext cx="749808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1">
                <a:solidFill>
                  <a:srgbClr val="005B34"/>
                </a:solidFill>
                <a:latin typeface="Arial"/>
              </a:defRPr>
            </a:pPr>
            <a:r>
              <a:t>✅ &gt;98%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785615" y="4462272"/>
            <a:ext cx="896112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831335" y="4517136"/>
            <a:ext cx="804672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Contaminated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681728" y="4462272"/>
            <a:ext cx="1024128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727448" y="4517136"/>
            <a:ext cx="932688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Ruined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5705856" y="4462272"/>
            <a:ext cx="1261872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751576" y="4517136"/>
            <a:ext cx="1170431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Ruined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967728" y="4462272"/>
            <a:ext cx="1005840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013448" y="4517136"/>
            <a:ext cx="91440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Contaminated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14400" y="4828032"/>
            <a:ext cx="2011680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60120" y="4882896"/>
            <a:ext cx="192024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1">
                <a:solidFill>
                  <a:srgbClr val="1A1C1B"/>
                </a:solidFill>
                <a:latin typeface="Arial"/>
              </a:defRPr>
            </a:pPr>
            <a:r>
              <a:t>Monthly Net Saving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944368" y="4828032"/>
            <a:ext cx="841248" cy="329184"/>
          </a:xfrm>
          <a:prstGeom prst="roundRect">
            <a:avLst>
              <a:gd name="adj" fmla="val 3500"/>
            </a:avLst>
          </a:prstGeom>
          <a:solidFill>
            <a:srgbClr val="ECF8F1"/>
          </a:solidFill>
          <a:ln w="12700">
            <a:solidFill>
              <a:srgbClr val="80D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990088" y="4882896"/>
            <a:ext cx="749808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1">
                <a:solidFill>
                  <a:srgbClr val="005B34"/>
                </a:solidFill>
                <a:latin typeface="Arial"/>
              </a:defRPr>
            </a:pPr>
            <a:r>
              <a:t>✅ Rs. 1L+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785615" y="4828032"/>
            <a:ext cx="896112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831335" y="4882896"/>
            <a:ext cx="804672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None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681728" y="4828032"/>
            <a:ext cx="1024128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27448" y="4882896"/>
            <a:ext cx="932688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None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705856" y="4828032"/>
            <a:ext cx="1261872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751576" y="4882896"/>
            <a:ext cx="1170431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None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967728" y="4828032"/>
            <a:ext cx="1005840" cy="329184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013448" y="4882896"/>
            <a:ext cx="91440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Sunk Cost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14400" y="5193792"/>
            <a:ext cx="2011680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60120" y="5248655"/>
            <a:ext cx="192024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1">
                <a:solidFill>
                  <a:srgbClr val="1A1C1B"/>
                </a:solidFill>
                <a:latin typeface="Arial"/>
              </a:defRPr>
            </a:pPr>
            <a:r>
              <a:t>Auto Anti-Souring Telemetry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944368" y="5193792"/>
            <a:ext cx="841248" cy="329184"/>
          </a:xfrm>
          <a:prstGeom prst="roundRect">
            <a:avLst>
              <a:gd name="adj" fmla="val 3500"/>
            </a:avLst>
          </a:prstGeom>
          <a:solidFill>
            <a:srgbClr val="ECF8F1"/>
          </a:solidFill>
          <a:ln w="12700">
            <a:solidFill>
              <a:srgbClr val="80D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990088" y="5248655"/>
            <a:ext cx="749808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1">
                <a:solidFill>
                  <a:srgbClr val="005B34"/>
                </a:solidFill>
                <a:latin typeface="Arial"/>
              </a:defRPr>
            </a:pPr>
            <a:r>
              <a:t>✅ Automated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785615" y="5193792"/>
            <a:ext cx="896112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831335" y="5248655"/>
            <a:ext cx="804672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None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681728" y="5193792"/>
            <a:ext cx="1024128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727448" y="5248655"/>
            <a:ext cx="932688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None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705856" y="5193792"/>
            <a:ext cx="1261872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751576" y="5248655"/>
            <a:ext cx="1170431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Manual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967728" y="5193792"/>
            <a:ext cx="1005840" cy="3291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013448" y="5248655"/>
            <a:ext cx="91440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700" b="0">
                <a:solidFill>
                  <a:srgbClr val="BA1A1A"/>
                </a:solidFill>
                <a:latin typeface="Arial"/>
              </a:defRPr>
            </a:pPr>
            <a:r>
              <a:t>❌ None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7498079" y="1417320"/>
            <a:ext cx="3962095" cy="4892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680960" y="1554480"/>
            <a:ext cx="3657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005B34"/>
                </a:solidFill>
                <a:latin typeface="Arial"/>
              </a:defRPr>
            </a:pPr>
            <a:r>
              <a:t>ECOBIN'S 4 COMPETITIVE MOATS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7680960" y="1901952"/>
            <a:ext cx="3687775" cy="1042415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680960" y="1901952"/>
            <a:ext cx="73152" cy="1042415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845552" y="1947672"/>
            <a:ext cx="3474720" cy="950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19" b="1">
                <a:solidFill>
                  <a:srgbClr val="0284C7"/>
                </a:solidFill>
                <a:latin typeface="Arial"/>
              </a:defRPr>
            </a:pPr>
            <a:r>
              <a:t>🤖 Proprietary Edge-AI Model</a:t>
            </a:r>
          </a:p>
          <a:p>
            <a:pPr>
              <a:spcAft>
                <a:spcPts val="100"/>
              </a:spcAft>
              <a:defRPr sz="680">
                <a:solidFill>
                  <a:srgbClr val="1A1C1B"/>
                </a:solidFill>
                <a:latin typeface="Arial"/>
              </a:defRPr>
            </a:pPr>
            <a:r>
              <a:t>YOLOv8 waste-classification weights trained on 20,000+ real campus food-waste images. Runs entirely offline on ESP32-S3 (&lt;150ms). Dataset grows with every deployed node — competitors cannot replicate without years of domain-specific training data.</a:t>
            </a:r>
          </a:p>
          <a:p>
            <a:pPr>
              <a:defRPr sz="680" b="1">
                <a:solidFill>
                  <a:srgbClr val="0284C7"/>
                </a:solidFill>
                <a:latin typeface="Arial"/>
              </a:defRPr>
            </a:pPr>
            <a:r>
              <a:t>[No competitor has this training dataset]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7680960" y="3017520"/>
            <a:ext cx="3687775" cy="1042415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680960" y="3017520"/>
            <a:ext cx="73152" cy="1042415"/>
          </a:xfrm>
          <a:prstGeom prst="rect">
            <a:avLst/>
          </a:prstGeom>
          <a:solidFill>
            <a:srgbClr val="137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7845552" y="3063239"/>
            <a:ext cx="3474720" cy="950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19" b="1">
                <a:solidFill>
                  <a:srgbClr val="137547"/>
                </a:solidFill>
                <a:latin typeface="Arial"/>
              </a:defRPr>
            </a:pPr>
            <a:r>
              <a:t>🔬 Automated Anti-Souring Bio-Telemetry</a:t>
            </a:r>
          </a:p>
          <a:p>
            <a:pPr>
              <a:spcAft>
                <a:spcPts val="100"/>
              </a:spcAft>
              <a:defRPr sz="680">
                <a:solidFill>
                  <a:srgbClr val="1A1C1B"/>
                </a:solidFill>
                <a:latin typeface="Arial"/>
              </a:defRPr>
            </a:pPr>
            <a:r>
              <a:t>Embedded pH sensor + automated NaHCO3 buffer dosing controller continuously stabilizes mesophilic methanogen cultures. Conventional biogas digesters fail within weeks due to acid souring — EcoBin's telemetry loop is the core IP preventing this.</a:t>
            </a:r>
          </a:p>
          <a:p>
            <a:pPr>
              <a:defRPr sz="680" b="1">
                <a:solidFill>
                  <a:srgbClr val="137547"/>
                </a:solidFill>
                <a:latin typeface="Arial"/>
              </a:defRPr>
            </a:pPr>
            <a:r>
              <a:t>[Core bioprocess IP — biogas without crash risk]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680960" y="4133087"/>
            <a:ext cx="3687775" cy="1042415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7680960" y="4133087"/>
            <a:ext cx="73152" cy="1042415"/>
          </a:xfrm>
          <a:prstGeom prst="rect">
            <a:avLst/>
          </a:prstGeom>
          <a:solidFill>
            <a:srgbClr val="005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845552" y="4178807"/>
            <a:ext cx="3474720" cy="950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19" b="1">
                <a:solidFill>
                  <a:srgbClr val="005B34"/>
                </a:solidFill>
                <a:latin typeface="Arial"/>
              </a:defRPr>
            </a:pPr>
            <a:r>
              <a:t>🔒 Embedded Utility Dependency (Stickiness)</a:t>
            </a:r>
          </a:p>
          <a:p>
            <a:pPr>
              <a:spcAft>
                <a:spcPts val="100"/>
              </a:spcAft>
              <a:defRPr sz="680">
                <a:solidFill>
                  <a:srgbClr val="1A1C1B"/>
                </a:solidFill>
                <a:latin typeface="Arial"/>
              </a:defRPr>
            </a:pPr>
            <a:r>
              <a:t>EcoBin biodigester directly pipes cooking gas to campus kitchen stoves every single day. Replacing EcoBin means re-installing gas supply lines and resuming LPG bills. This physical utility lock-in produces &lt;1.5% annual churn — far below SaaS benchmarks.</a:t>
            </a:r>
          </a:p>
          <a:p>
            <a:pPr>
              <a:defRPr sz="680" b="1">
                <a:solidFill>
                  <a:srgbClr val="005B34"/>
                </a:solidFill>
                <a:latin typeface="Arial"/>
              </a:defRPr>
            </a:pPr>
            <a:r>
              <a:t>[Physical lock-in: &lt;1.5% churn, &gt;98% renewal]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7680960" y="5248656"/>
            <a:ext cx="3687775" cy="1042415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680960" y="5248656"/>
            <a:ext cx="73152" cy="1042415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7845552" y="5294376"/>
            <a:ext cx="3474720" cy="950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19" b="1">
                <a:solidFill>
                  <a:srgbClr val="B45309"/>
                </a:solidFill>
                <a:latin typeface="Arial"/>
              </a:defRPr>
            </a:pPr>
            <a:r>
              <a:t>📜 Regulatory First-Mover Advantage</a:t>
            </a:r>
          </a:p>
          <a:p>
            <a:pPr>
              <a:spcAft>
                <a:spcPts val="100"/>
              </a:spcAft>
              <a:defRPr sz="680">
                <a:solidFill>
                  <a:srgbClr val="1A1C1B"/>
                </a:solidFill>
                <a:latin typeface="Arial"/>
              </a:defRPr>
            </a:pPr>
            <a:r>
              <a:t>SWM Rules 2016 legally mandate on-site treatment for all Bulk Waste Generators (&gt;100 kg/day). EcoBin is the only integrated AI-sorting + biodigestion solution pre-validated under this compliance framework. First certified solution in Tier-1 educational campus segment.</a:t>
            </a:r>
          </a:p>
          <a:p>
            <a:pPr>
              <a:defRPr sz="680" b="1">
                <a:solidFill>
                  <a:srgbClr val="B45309"/>
                </a:solidFill>
                <a:latin typeface="Arial"/>
              </a:defRPr>
            </a:pPr>
            <a:r>
              <a:t>[Only SWM-2016-validated end-to-end system]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9184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05B34"/>
                </a:solidFill>
                <a:latin typeface="Arial"/>
              </a:defRPr>
            </a:pPr>
            <a:r>
              <a:t>TEAM EXPERTISE &amp; INVESTMENT ASK</a:t>
            </a:r>
          </a:p>
          <a:p>
            <a:pPr>
              <a:spcAft>
                <a:spcPts val="200"/>
              </a:spcAft>
              <a:defRPr sz="1900" b="1">
                <a:solidFill>
                  <a:srgbClr val="1A1C1B"/>
                </a:solidFill>
                <a:latin typeface="Arial"/>
              </a:defRPr>
            </a:pPr>
            <a:r>
              <a:t>Uniquely Qualified Team + A Clear Milestone Ladder for Every Rupee Raised</a:t>
            </a:r>
          </a:p>
          <a:p>
            <a:pPr>
              <a:defRPr sz="950">
                <a:solidFill>
                  <a:srgbClr val="555C5A"/>
                </a:solidFill>
                <a:latin typeface="Arial"/>
              </a:defRPr>
            </a:pPr>
            <a:r>
              <a:t>Domain-first engineering + commercial operators, with a precise de-risking milestone ladder.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5212080" cy="4892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005B34"/>
                </a:solidFill>
                <a:latin typeface="Arial"/>
              </a:defRPr>
            </a:pPr>
            <a:r>
              <a:t>TEAM: WHY WE ARE UNIQUELY QUALIFIED TO BUILD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01952"/>
            <a:ext cx="4846320" cy="804672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901952"/>
            <a:ext cx="73152" cy="80467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1947672"/>
            <a:ext cx="4572000" cy="722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19" b="1">
                <a:solidFill>
                  <a:srgbClr val="0284C7"/>
                </a:solidFill>
                <a:latin typeface="Arial"/>
              </a:defRPr>
            </a:pPr>
            <a:r>
              <a:t>⚙️ Embedded Systems &amp; Firmware Engineering</a:t>
            </a:r>
          </a:p>
          <a:p>
            <a:pPr>
              <a:spcAft>
                <a:spcPts val="100"/>
              </a:spcAft>
              <a:defRPr sz="680">
                <a:solidFill>
                  <a:srgbClr val="1A1C1B"/>
                </a:solidFill>
                <a:latin typeface="Arial"/>
              </a:defRPr>
            </a:pPr>
            <a:r>
              <a:t>ESP32-S3 firmware architecture, real-time RTOS sensor polling, UART/I2C peripheral stacks, low-power edge inference runtime, and OTA remote update pipelines.</a:t>
            </a:r>
          </a:p>
          <a:p>
            <a:pPr>
              <a:defRPr sz="680" b="1">
                <a:solidFill>
                  <a:srgbClr val="0284C7"/>
                </a:solidFill>
                <a:latin typeface="Arial"/>
              </a:defRPr>
            </a:pPr>
            <a:r>
              <a:t>ESP32-S3 • FreeRTOS • Edge-AI • OTA Firmware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79776"/>
            <a:ext cx="4846320" cy="804672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779776"/>
            <a:ext cx="73152" cy="804672"/>
          </a:xfrm>
          <a:prstGeom prst="rect">
            <a:avLst/>
          </a:prstGeom>
          <a:solidFill>
            <a:srgbClr val="005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825496"/>
            <a:ext cx="4572000" cy="722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19" b="1">
                <a:solidFill>
                  <a:srgbClr val="005B34"/>
                </a:solidFill>
                <a:latin typeface="Arial"/>
              </a:defRPr>
            </a:pPr>
            <a:r>
              <a:t>🤖 Computer Vision &amp; Machine Learning (Edge-AI)</a:t>
            </a:r>
          </a:p>
          <a:p>
            <a:pPr>
              <a:spcAft>
                <a:spcPts val="100"/>
              </a:spcAft>
              <a:defRPr sz="680">
                <a:solidFill>
                  <a:srgbClr val="1A1C1B"/>
                </a:solidFill>
                <a:latin typeface="Arial"/>
              </a:defRPr>
            </a:pPr>
            <a:r>
              <a:t>YOLOv8 model quantization and deployment at &lt;150ms inference. Custom dataset labelling (20,000+ food waste images), model optimization for 4MB flash constraint, and real-world accuracy benchmarking.</a:t>
            </a:r>
          </a:p>
          <a:p>
            <a:pPr>
              <a:defRPr sz="680" b="1">
                <a:solidFill>
                  <a:srgbClr val="005B34"/>
                </a:solidFill>
                <a:latin typeface="Arial"/>
              </a:defRPr>
            </a:pPr>
            <a:r>
              <a:t>YOLOv8 • TFLite • Edge Inference • Custom Datasets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657600"/>
            <a:ext cx="4846320" cy="804672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657600"/>
            <a:ext cx="73152" cy="804672"/>
          </a:xfrm>
          <a:prstGeom prst="rect">
            <a:avLst/>
          </a:prstGeom>
          <a:solidFill>
            <a:srgbClr val="137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703320"/>
            <a:ext cx="4572000" cy="722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19" b="1">
                <a:solidFill>
                  <a:srgbClr val="137547"/>
                </a:solidFill>
                <a:latin typeface="Arial"/>
              </a:defRPr>
            </a:pPr>
            <a:r>
              <a:t>🧪 Anaerobic Bio-Process Engineering</a:t>
            </a:r>
          </a:p>
          <a:p>
            <a:pPr>
              <a:spcAft>
                <a:spcPts val="100"/>
              </a:spcAft>
              <a:defRPr sz="680">
                <a:solidFill>
                  <a:srgbClr val="1A1C1B"/>
                </a:solidFill>
                <a:latin typeface="Arial"/>
              </a:defRPr>
            </a:pPr>
            <a:r>
              <a:t>Mesophilic biodigester design, volatile fatty acid (VFA) monitoring, automated NaHCO3 buffer dosing control systems, low-viscosity micro-slurry maceration engineering, and bio-fertilizer extraction.</a:t>
            </a:r>
          </a:p>
          <a:p>
            <a:pPr>
              <a:defRPr sz="680" b="1">
                <a:solidFill>
                  <a:srgbClr val="137547"/>
                </a:solidFill>
                <a:latin typeface="Arial"/>
              </a:defRPr>
            </a:pPr>
            <a:r>
              <a:t>Biogas • pH Telemetry • Anti-Souring • Bio-Fertilizer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535424"/>
            <a:ext cx="4846320" cy="804672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4535424"/>
            <a:ext cx="73152" cy="80467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581144"/>
            <a:ext cx="4572000" cy="722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19" b="1">
                <a:solidFill>
                  <a:srgbClr val="B45309"/>
                </a:solidFill>
                <a:latin typeface="Arial"/>
              </a:defRPr>
            </a:pPr>
            <a:r>
              <a:t>🏛️ Institutional B2B Sales &amp; Campus Operations</a:t>
            </a:r>
          </a:p>
          <a:p>
            <a:pPr>
              <a:spcAft>
                <a:spcPts val="100"/>
              </a:spcAft>
              <a:defRPr sz="680">
                <a:solidFill>
                  <a:srgbClr val="1A1C1B"/>
                </a:solidFill>
                <a:latin typeface="Arial"/>
              </a:defRPr>
            </a:pPr>
            <a:r>
              <a:t>Direct campus administration engagement, compliance audit support (SWM 2016 / NAAC), facility management procurement structuring, and B2B contract execution at Tier-1 universities.</a:t>
            </a:r>
          </a:p>
          <a:p>
            <a:pPr>
              <a:defRPr sz="680" b="1">
                <a:solidFill>
                  <a:srgbClr val="B45309"/>
                </a:solidFill>
                <a:latin typeface="Arial"/>
              </a:defRPr>
            </a:pPr>
            <a:r>
              <a:t>Institutional B2B • SWM Compliance • Campus GTM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5413248"/>
            <a:ext cx="4846320" cy="804672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5413248"/>
            <a:ext cx="73152" cy="804672"/>
          </a:xfrm>
          <a:prstGeom prst="rect">
            <a:avLst/>
          </a:prstGeom>
          <a:solidFill>
            <a:srgbClr val="1A1C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5458968"/>
            <a:ext cx="4572000" cy="722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19" b="1">
                <a:solidFill>
                  <a:srgbClr val="1A1C1B"/>
                </a:solidFill>
                <a:latin typeface="Arial"/>
              </a:defRPr>
            </a:pPr>
            <a:r>
              <a:t>🔧 Hardware Product Design &amp; Manufacturing</a:t>
            </a:r>
          </a:p>
          <a:p>
            <a:pPr>
              <a:spcAft>
                <a:spcPts val="100"/>
              </a:spcAft>
              <a:defRPr sz="680">
                <a:solidFill>
                  <a:srgbClr val="1A1C1B"/>
                </a:solidFill>
                <a:latin typeface="Arial"/>
              </a:defRPr>
            </a:pPr>
            <a:r>
              <a:t>Mechanical system design, stainless-steel fabrication vendor partnerships, modular plug-and-play assembly planning, supply chain cost optimization, and 3–5 day installation-ready deployment packaging.</a:t>
            </a:r>
          </a:p>
          <a:p>
            <a:pPr>
              <a:defRPr sz="680" b="1">
                <a:solidFill>
                  <a:srgbClr val="1A1C1B"/>
                </a:solidFill>
                <a:latin typeface="Arial"/>
              </a:defRPr>
            </a:pPr>
            <a:r>
              <a:t>Fabrication • Modular Design • Supply Chain • BoM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1417320"/>
            <a:ext cx="5333695" cy="4892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1554480"/>
            <a:ext cx="49377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005B34"/>
                </a:solidFill>
                <a:latin typeface="Arial"/>
              </a:defRPr>
            </a:pPr>
            <a:r>
              <a:t>THE ASK: SEED RAISE &amp; MILESTONE LADDER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1901952"/>
            <a:ext cx="4967935" cy="694944"/>
          </a:xfrm>
          <a:prstGeom prst="roundRect">
            <a:avLst>
              <a:gd name="adj" fmla="val 3500"/>
            </a:avLst>
          </a:prstGeom>
          <a:solidFill>
            <a:srgbClr val="ECF8F1"/>
          </a:solidFill>
          <a:ln w="12700">
            <a:solidFill>
              <a:srgbClr val="80D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956816"/>
            <a:ext cx="4709160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05B34"/>
                </a:solidFill>
                <a:latin typeface="Arial"/>
              </a:defRPr>
            </a:pPr>
            <a:r>
              <a:t>RAISING: Rs. 1.5 Cr SEED ROUND</a:t>
            </a:r>
          </a:p>
          <a:p>
            <a:pPr>
              <a:defRPr sz="800">
                <a:solidFill>
                  <a:srgbClr val="1A1C1B"/>
                </a:solidFill>
                <a:latin typeface="Arial"/>
              </a:defRPr>
            </a:pPr>
            <a:r>
              <a:t>To scale from 1 live campus to 20 deployed hubs &amp; achieve Rs. 1.2 Cr ARR in 12 months.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2688336"/>
            <a:ext cx="4967935" cy="1115568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2688336"/>
            <a:ext cx="73152" cy="111556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2743200"/>
            <a:ext cx="468172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780" b="1">
                <a:solidFill>
                  <a:srgbClr val="0284C7"/>
                </a:solidFill>
                <a:latin typeface="Arial"/>
              </a:defRPr>
            </a:pPr>
            <a:r>
              <a:t>MILESTONE 1: PRODUCTION-READY HARDWARE (Rs. 35 Lakhs) [Months 0–3]</a:t>
            </a:r>
          </a:p>
          <a:p>
            <a:pPr>
              <a:defRPr sz="690">
                <a:solidFill>
                  <a:srgbClr val="1A1C1B"/>
                </a:solidFill>
                <a:latin typeface="Arial"/>
              </a:defRPr>
            </a:pPr>
            <a:r>
              <a:t>• Finalize Gen-2 hardware: standardized modular hub (100/250/500 kg variants).</a:t>
            </a:r>
            <a:br/>
            <a:r>
              <a:t>• Contract manufacturing with local Ghaziabad fabrication partner.</a:t>
            </a:r>
            <a:br/>
            <a:r>
              <a:t>• Complete UL/BIS sensor certifications for institutional procurement approval.</a:t>
            </a:r>
            <a:br/>
            <a:r>
              <a:t>• Risk Retired: Hardware scaling feasibility proven — eliminates prototyping risk.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7072" y="3803904"/>
            <a:ext cx="27432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3877056"/>
            <a:ext cx="4967935" cy="1115568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3877056"/>
            <a:ext cx="73152" cy="1115568"/>
          </a:xfrm>
          <a:prstGeom prst="rect">
            <a:avLst/>
          </a:prstGeom>
          <a:solidFill>
            <a:srgbClr val="137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3931920"/>
            <a:ext cx="468172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780" b="1">
                <a:solidFill>
                  <a:srgbClr val="137547"/>
                </a:solidFill>
                <a:latin typeface="Arial"/>
              </a:defRPr>
            </a:pPr>
            <a:r>
              <a:t>MILESTONE 2: 20-CAMPUS EXPANSION (Rs. 70 Lakhs) [Months 3–9]</a:t>
            </a:r>
          </a:p>
          <a:p>
            <a:pPr>
              <a:defRPr sz="690">
                <a:solidFill>
                  <a:srgbClr val="1A1C1B"/>
                </a:solidFill>
                <a:latin typeface="Arial"/>
              </a:defRPr>
            </a:pPr>
            <a:r>
              <a:t>• Deploy 20 institutional campus hubs across Greater Noida &amp; Ghaziabad cluster.</a:t>
            </a:r>
            <a:br/>
            <a:r>
              <a:t>• Each hub generates Rs. 5k–8k/mo AMC + Rs. 1L/mo campus operational savings.</a:t>
            </a:r>
            <a:br/>
            <a:r>
              <a:t>• Build dedicated 3-person institutional sales &amp; deployment team.</a:t>
            </a:r>
            <a:br/>
            <a:r>
              <a:t>• Target: Rs. 24L CapEx revenue + Rs. 12L ARR AMC run-rate by Month 9.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7072" y="4992624"/>
            <a:ext cx="27432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137547"/>
                </a:solidFill>
                <a:latin typeface="Arial"/>
              </a:defRPr>
            </a:pPr>
            <a:r>
              <a:t>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5065776"/>
            <a:ext cx="4967935" cy="1115568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5065776"/>
            <a:ext cx="73152" cy="1115568"/>
          </a:xfrm>
          <a:prstGeom prst="rect">
            <a:avLst/>
          </a:prstGeom>
          <a:solidFill>
            <a:srgbClr val="005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120640"/>
            <a:ext cx="468172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780" b="1">
                <a:solidFill>
                  <a:srgbClr val="005B34"/>
                </a:solidFill>
                <a:latin typeface="Arial"/>
              </a:defRPr>
            </a:pPr>
            <a:r>
              <a:t>MILESTONE 3: SERIES A READY — Rs. 95 Cr SOM (Rs. 45 Lakhs) [Months 9–18]</a:t>
            </a:r>
          </a:p>
          <a:p>
            <a:pPr>
              <a:defRPr sz="690">
                <a:solidFill>
                  <a:srgbClr val="1A1C1B"/>
                </a:solidFill>
                <a:latin typeface="Arial"/>
              </a:defRPr>
            </a:pPr>
            <a:r>
              <a:t>• Regional assembly hub opened (NCR) for faster 48-hr deployment SLA.</a:t>
            </a:r>
            <a:br/>
            <a:r>
              <a:t>• Channel partnerships with JLL, CBRE, and Delhi-NCR RWA Federations signed.</a:t>
            </a:r>
            <a:br/>
            <a:r>
              <a:t>• Recyclable offtake aggregation contracts with 2 industrial paper/plastic mills.</a:t>
            </a:r>
            <a:br/>
            <a:r>
              <a:t>• Target: 100+ installed nodes, Rs. 95L ARR, Series A deck ready.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143000"/>
            <a:ext cx="6217920" cy="457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63040" y="1463040"/>
            <a:ext cx="512064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900" b="1">
                <a:solidFill>
                  <a:srgbClr val="005B34"/>
                </a:solidFill>
                <a:latin typeface="Arial"/>
              </a:defRPr>
            </a:pPr>
            <a:r>
              <a:t>DECENTRALIZED URBAN BIO-UTILITY</a:t>
            </a:r>
          </a:p>
          <a:p>
            <a:pPr>
              <a:spcAft>
                <a:spcPts val="600"/>
              </a:spcAft>
              <a:defRPr sz="5200" b="1">
                <a:solidFill>
                  <a:srgbClr val="005B34"/>
                </a:solidFill>
                <a:latin typeface="Arial"/>
              </a:defRPr>
            </a:pPr>
            <a:r>
              <a:t>Thank You</a:t>
            </a:r>
          </a:p>
          <a:p>
            <a:pPr>
              <a:spcAft>
                <a:spcPts val="1400"/>
              </a:spcAft>
              <a:defRPr sz="1900" b="1">
                <a:solidFill>
                  <a:srgbClr val="1A1C1B"/>
                </a:solidFill>
                <a:latin typeface="Arial"/>
              </a:defRPr>
            </a:pPr>
            <a:r>
              <a:t>EcoBin — "Throw Waste. Create Energy."</a:t>
            </a:r>
          </a:p>
          <a:p>
            <a:pPr>
              <a:defRPr sz="1100">
                <a:solidFill>
                  <a:srgbClr val="555C5A"/>
                </a:solidFill>
                <a:latin typeface="Arial"/>
              </a:defRPr>
            </a:pPr>
            <a:r>
              <a:t>Autonomous edge-AI source-segregation and closed-loop anaerobic digestion converting organic food waste into clean on-site energy.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4206240"/>
            <a:ext cx="5120640" cy="1234440"/>
          </a:xfrm>
          <a:prstGeom prst="roundRect">
            <a:avLst>
              <a:gd name="adj" fmla="val 3500"/>
            </a:avLst>
          </a:prstGeom>
          <a:solidFill>
            <a:srgbClr val="ECF8F1"/>
          </a:solidFill>
          <a:ln w="12700">
            <a:solidFill>
              <a:srgbClr val="80D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4297680"/>
            <a:ext cx="47548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5B34"/>
                </a:solidFill>
                <a:latin typeface="Arial"/>
              </a:defRPr>
            </a:pPr>
            <a:r>
              <a:t>Official Website: https://echobin.vercel.app</a:t>
            </a:r>
          </a:p>
          <a:p>
            <a:pPr>
              <a:spcAft>
                <a:spcPts val="600"/>
              </a:spcAft>
              <a:defRPr sz="1000" b="1">
                <a:solidFill>
                  <a:srgbClr val="1A1C1B"/>
                </a:solidFill>
                <a:latin typeface="Arial"/>
              </a:defRPr>
            </a:pPr>
            <a:r>
              <a:t>Partnership &amp; Inquiries: contact@ecobin.tech</a:t>
            </a:r>
          </a:p>
          <a:p>
            <a:pPr>
              <a:defRPr sz="850">
                <a:solidFill>
                  <a:srgbClr val="555C5A"/>
                </a:solidFill>
                <a:latin typeface="Arial"/>
              </a:defRPr>
            </a:pPr>
            <a:r>
              <a:t>Open for Institutional Pilots, Municipal Partnerships &amp; Strategic Collaborations.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1143000"/>
            <a:ext cx="3870655" cy="457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mart_no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3504895" cy="35048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89520" y="4526280"/>
            <a:ext cx="3504895" cy="960120"/>
          </a:xfrm>
          <a:prstGeom prst="roundRect">
            <a:avLst>
              <a:gd name="adj" fmla="val 3500"/>
            </a:avLst>
          </a:prstGeom>
          <a:solidFill>
            <a:srgbClr val="F4F5F3"/>
          </a:solidFill>
          <a:ln w="12700">
            <a:solidFill>
              <a:srgbClr val="D6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99248" y="4590288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05B34"/>
                </a:solidFill>
                <a:latin typeface="Arial"/>
              </a:defRPr>
            </a:pPr>
            <a:r>
              <a:t>ECOBIN APPLIANCE</a:t>
            </a:r>
          </a:p>
          <a:p>
            <a:pPr>
              <a:defRPr sz="800">
                <a:solidFill>
                  <a:srgbClr val="1A1C1B"/>
                </a:solidFill>
                <a:latin typeface="Arial"/>
              </a:defRPr>
            </a:pPr>
            <a:r>
              <a:t>Operational testbed validated across campus living labs. Deploying autonomous clean energy infrastructure right at the source.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