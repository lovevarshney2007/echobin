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7132320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04672"/>
            <a:ext cx="3840480" cy="347472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503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1" i="0">
                <a:solidFill>
                  <a:srgbClr val="005B34"/>
                </a:solidFill>
                <a:latin typeface="Arial"/>
              </a:defRPr>
            </a:pPr>
            <a:r>
              <a:t>DECENTRALIZED CLEAN ENERGY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0" b="1" i="0">
                <a:solidFill>
                  <a:srgbClr val="005B34"/>
                </a:solidFill>
                <a:latin typeface="Arial"/>
              </a:defRPr>
            </a:pPr>
            <a:r>
              <a:t>EcoBin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1A1C1B"/>
                </a:solidFill>
                <a:latin typeface="Arial"/>
              </a:defRPr>
            </a:pPr>
            <a:r>
              <a:t>"Throw Waste. Create Energy."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71216"/>
            <a:ext cx="5303520" cy="36576"/>
          </a:xfrm>
          <a:prstGeom prst="rect">
            <a:avLst/>
          </a:prstGeom>
          <a:solidFill>
            <a:srgbClr val="80D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6E6B"/>
                </a:solidFill>
                <a:latin typeface="Arial"/>
              </a:defRPr>
            </a:pPr>
            <a:r>
              <a:t>AI waste sorting + on-site biogas for campuses &amp; societies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847088" cy="84124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49039"/>
            <a:ext cx="170078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 i="0">
                <a:solidFill>
                  <a:srgbClr val="005B34"/>
                </a:solidFill>
                <a:latin typeface="Arial"/>
              </a:defRPr>
            </a:pPr>
            <a:r>
              <a:t>25-30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5137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0">
                <a:solidFill>
                  <a:srgbClr val="646E6B"/>
                </a:solidFill>
                <a:latin typeface="Arial"/>
              </a:defRPr>
            </a:pPr>
            <a:r>
              <a:t>LPG cylinders</a:t>
            </a:r>
            <a:br/>
            <a:r>
              <a:t>saved/month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703320"/>
            <a:ext cx="1847088" cy="84124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3749039"/>
            <a:ext cx="170078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 i="0">
                <a:solidFill>
                  <a:srgbClr val="005B34"/>
                </a:solidFill>
                <a:latin typeface="Arial"/>
              </a:defRPr>
            </a:pPr>
            <a:r>
              <a:t>&gt;98%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15137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0">
                <a:solidFill>
                  <a:srgbClr val="646E6B"/>
                </a:solidFill>
                <a:latin typeface="Arial"/>
              </a:defRPr>
            </a:pPr>
            <a:r>
              <a:t>AI sorting</a:t>
            </a:r>
            <a:br/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703320"/>
            <a:ext cx="1847088" cy="84124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3749039"/>
            <a:ext cx="170078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 i="0">
                <a:solidFill>
                  <a:srgbClr val="005B34"/>
                </a:solidFill>
                <a:latin typeface="Arial"/>
              </a:defRPr>
            </a:pPr>
            <a:r>
              <a:t>Rs.1L+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4151376"/>
            <a:ext cx="170078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 i="0">
                <a:solidFill>
                  <a:srgbClr val="646E6B"/>
                </a:solidFill>
                <a:latin typeface="Arial"/>
              </a:defRPr>
            </a:pPr>
            <a:r>
              <a:t>saved monthly</a:t>
            </a:r>
            <a:br/>
            <a:r>
              <a:t>per campus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09160"/>
            <a:ext cx="6400800" cy="512064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18888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005B34"/>
                </a:solidFill>
                <a:latin typeface="Arial"/>
              </a:defRPr>
            </a:pPr>
            <a:r>
              <a:t>echobin.vercel.app  |  contact@ecobin.tech  |  Autonomous Bio-Utility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57200"/>
            <a:ext cx="4023360" cy="5943600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mart_n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594360"/>
            <a:ext cx="3840480" cy="5029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01000" y="565099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005B34"/>
                </a:solidFill>
                <a:latin typeface="Arial"/>
              </a:defRPr>
            </a:pPr>
            <a:r>
              <a:t>EcoBin Autonomous Segregation 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Institutions Pay Lakhs Monthly for a Broken Waste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Mixed waste. Failed sorting. Diesel trucks. Landfill fines.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3639312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09728" cy="148132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82496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BA1A1A"/>
                </a:solidFill>
                <a:latin typeface="Arial"/>
              </a:defRPr>
            </a:pPr>
            <a:r>
              <a:t>1.5 Lakh 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municipal solid waste</a:t>
            </a:r>
            <a:br/>
            <a:r>
              <a:t>generated daily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639312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72768"/>
            <a:ext cx="109728" cy="14813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82496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B45309"/>
                </a:solidFill>
                <a:latin typeface="Arial"/>
              </a:defRPr>
            </a:pPr>
            <a:r>
              <a:t>&gt;40%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91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human sorting</a:t>
            </a:r>
            <a:br/>
            <a:r>
              <a:t>error rate at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72768"/>
            <a:ext cx="3639312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572768"/>
            <a:ext cx="109728" cy="148132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82496"/>
            <a:ext cx="327355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 i="0">
                <a:solidFill>
                  <a:srgbClr val="BA1A1A"/>
                </a:solidFill>
                <a:latin typeface="Arial"/>
              </a:defRPr>
            </a:pPr>
            <a:r>
              <a:t>Rs. 1.5L/mo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591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average haulage bill</a:t>
            </a:r>
            <a:br/>
            <a:r>
              <a:t>paid by campuses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646E6B"/>
                </a:solidFill>
                <a:latin typeface="Arial"/>
              </a:defRPr>
            </a:pPr>
            <a:r>
              <a:t>HOW THE BROKEN SYSTEM WORKS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9584"/>
            <a:ext cx="2578608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29584"/>
            <a:ext cx="91440" cy="155448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21024"/>
            <a:ext cx="2304288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BA1A1A"/>
                </a:solidFill>
                <a:latin typeface="Arial"/>
              </a:defRPr>
            </a:pPr>
            <a:r>
              <a:t>Mixed</a:t>
            </a:r>
            <a:br/>
            <a:r>
              <a:t>Disposal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51376"/>
            <a:ext cx="230428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Zero sorting</a:t>
            </a:r>
            <a:br/>
            <a:r>
              <a:t>at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41148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529584"/>
            <a:ext cx="2578608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529584"/>
            <a:ext cx="91440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621024"/>
            <a:ext cx="2304288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B45309"/>
                </a:solidFill>
                <a:latin typeface="Arial"/>
              </a:defRPr>
            </a:pPr>
            <a:r>
              <a:t>Manual</a:t>
            </a:r>
            <a:br/>
            <a:r>
              <a:t>Bins 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151376"/>
            <a:ext cx="230428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&gt;40% error,</a:t>
            </a:r>
            <a:br/>
            <a:r>
              <a:t>dirty 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41148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29584"/>
            <a:ext cx="2578608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29584"/>
            <a:ext cx="91440" cy="155448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621024"/>
            <a:ext cx="2304288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BA1A1A"/>
                </a:solidFill>
                <a:latin typeface="Arial"/>
              </a:defRPr>
            </a:pPr>
            <a:r>
              <a:t>Diesel</a:t>
            </a:r>
            <a:br/>
            <a:r>
              <a:t>Haulage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51376"/>
            <a:ext cx="230428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Rs. 80k/mo to haul</a:t>
            </a:r>
            <a:br/>
            <a:r>
              <a:t>70% water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6" y="411480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529584"/>
            <a:ext cx="2578608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A1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3529584"/>
            <a:ext cx="91440" cy="1554480"/>
          </a:xfrm>
          <a:prstGeom prst="rect">
            <a:avLst/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621024"/>
            <a:ext cx="2304288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1A1C1B"/>
                </a:solidFill>
                <a:latin typeface="Arial"/>
              </a:defRPr>
            </a:pPr>
            <a:r>
              <a:t>Landfill</a:t>
            </a:r>
            <a:br/>
            <a:r>
              <a:t>+ Fines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151376"/>
            <a:ext cx="230428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Rs. 50k NGT</a:t>
            </a:r>
            <a:br/>
            <a:r>
              <a:t>fines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48656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44768" y="5248656"/>
            <a:ext cx="5486400" cy="1371600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overflowing_waste_p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294376"/>
            <a:ext cx="5303520" cy="1280160"/>
          </a:xfrm>
          <a:prstGeom prst="rect">
            <a:avLst/>
          </a:prstGeom>
        </p:spPr>
      </p:pic>
      <p:pic>
        <p:nvPicPr>
          <p:cNvPr id="40" name="Picture 39" descr="landfill_cri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5294376"/>
            <a:ext cx="53949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MARKET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Why Now? Four Tailwinds Make This the Right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Regulations. Cost spikes. Cheap AI sensors. ESG pressure — all converging.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57784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2212848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10512"/>
            <a:ext cx="5193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005B34"/>
                </a:solidFill>
                <a:latin typeface="Arial"/>
              </a:defRPr>
            </a:pPr>
            <a:r>
              <a:t>Regulation</a:t>
            </a:r>
            <a:br/>
            <a:r>
              <a:t>Mandates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14016"/>
            <a:ext cx="5193792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SWM 2016 legally requires on-site treatment</a:t>
            </a:r>
            <a:br/>
            <a:r>
              <a:t>for all bulk generators &gt;100 kg/day.</a:t>
            </a:r>
            <a:br/>
            <a:r>
              <a:t>Rs. 50,000 NGT fines now actively enforced.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645920"/>
            <a:ext cx="557784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1645920"/>
            <a:ext cx="109728" cy="221284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810512"/>
            <a:ext cx="5193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BA1A1A"/>
                </a:solidFill>
                <a:latin typeface="Arial"/>
              </a:defRPr>
            </a:pPr>
            <a:r>
              <a:t>Diesel &amp; LPG</a:t>
            </a:r>
            <a:br/>
            <a:r>
              <a:t>Costs Surged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414016"/>
            <a:ext cx="5193792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Haulage costs up 40% in 3 years.</a:t>
            </a:r>
            <a:br/>
            <a:r>
              <a:t>LPG cylinder prices at all-time high.</a:t>
            </a:r>
            <a:br/>
            <a:r>
              <a:t>Institutions urgently seeking alternatives.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557784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109728" cy="22128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33672"/>
            <a:ext cx="5193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0284C7"/>
                </a:solidFill>
                <a:latin typeface="Arial"/>
              </a:defRPr>
            </a:pPr>
            <a:r>
              <a:t>AI Sensors Now</a:t>
            </a:r>
            <a:br/>
            <a:r>
              <a:t>Cost &lt;Rs. 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837176"/>
            <a:ext cx="5193792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ESP32-S3 AI camera modules: &lt;Rs. 800.</a:t>
            </a:r>
            <a:br/>
            <a:r>
              <a:t>Edge inference viable in Rs. 3L hardware.</a:t>
            </a:r>
            <a:br/>
            <a:r>
              <a:t>Moore's Law finally reached waste-tech.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4069080"/>
            <a:ext cx="557784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4069080"/>
            <a:ext cx="109728" cy="221284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233672"/>
            <a:ext cx="51937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B45309"/>
                </a:solidFill>
                <a:latin typeface="Arial"/>
              </a:defRPr>
            </a:pPr>
            <a:r>
              <a:t>ESG &amp; NAAC</a:t>
            </a:r>
            <a:br/>
            <a:r>
              <a:t>Now Mandatory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837176"/>
            <a:ext cx="5193792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Universities need NAAC Green credentials.</a:t>
            </a:r>
            <a:br/>
            <a:r>
              <a:t>Corporates face SEBI BRSR net-zero mandates.</a:t>
            </a:r>
            <a:br/>
            <a:r>
              <a:t>Green infra is a procurement priority.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Drop Any Waste. Get Free Cooking Gas.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Fully autonomous 4-step closed loop. Zero manual sorting. Zero diesel trucks.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2606040" cy="263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A1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606040" cy="91440"/>
          </a:xfrm>
          <a:prstGeom prst="rect">
            <a:avLst/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" y="1737360"/>
            <a:ext cx="438912" cy="310896"/>
          </a:xfrm>
          <a:prstGeom prst="roundRect">
            <a:avLst>
              <a:gd name="adj" fmla="val 4000"/>
            </a:avLst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74650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396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A1C1B"/>
                </a:solidFill>
                <a:latin typeface="Arial"/>
              </a:defRPr>
            </a:pPr>
            <a:r>
              <a:t>Drop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743200"/>
            <a:ext cx="23591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A1C1B"/>
                </a:solidFill>
                <a:latin typeface="Arial"/>
              </a:defRPr>
            </a:pPr>
            <a:r>
              <a:t>User drops anything.</a:t>
            </a:r>
            <a:br/>
            <a:r>
              <a:t>No sorting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6974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572768"/>
            <a:ext cx="2606040" cy="263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572768"/>
            <a:ext cx="26060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3864" y="1737360"/>
            <a:ext cx="438912" cy="310896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174650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1396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0284C7"/>
                </a:solidFill>
                <a:latin typeface="Arial"/>
              </a:defRPr>
            </a:pPr>
            <a:r>
              <a:t>AI Vision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743200"/>
            <a:ext cx="23591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A1C1B"/>
                </a:solidFill>
                <a:latin typeface="Arial"/>
              </a:defRPr>
            </a:pPr>
            <a:r>
              <a:t>&lt;150ms edge AI</a:t>
            </a:r>
            <a:br/>
            <a:r>
              <a:t>sorts dry vs wet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1" y="26974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572768"/>
            <a:ext cx="2606040" cy="263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572768"/>
            <a:ext cx="2606040" cy="91440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1737360"/>
            <a:ext cx="438912" cy="310896"/>
          </a:xfrm>
          <a:prstGeom prst="roundRect">
            <a:avLst>
              <a:gd name="adj" fmla="val 4000"/>
            </a:avLst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174650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1396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37547"/>
                </a:solidFill>
                <a:latin typeface="Arial"/>
              </a:defRPr>
            </a:pPr>
            <a:r>
              <a:t>Bio-Digestion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743200"/>
            <a:ext cx="23591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A1C1B"/>
                </a:solidFill>
                <a:latin typeface="Arial"/>
              </a:defRPr>
            </a:pPr>
            <a:r>
              <a:t>Organic food waste</a:t>
            </a:r>
            <a:br/>
            <a:r>
              <a:t>becomes clean biogas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69748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1704" y="1572768"/>
            <a:ext cx="2606040" cy="263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1704" y="1572768"/>
            <a:ext cx="2606040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1737360"/>
            <a:ext cx="438912" cy="310896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74650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139696"/>
            <a:ext cx="23591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B45309"/>
                </a:solidFill>
                <a:latin typeface="Arial"/>
              </a:defRPr>
            </a:pPr>
            <a:r>
              <a:t>Free Cooking Gas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43200"/>
            <a:ext cx="23591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A1C1B"/>
                </a:solidFill>
                <a:latin typeface="Arial"/>
              </a:defRPr>
            </a:pPr>
            <a:r>
              <a:t>Piped directly to</a:t>
            </a:r>
            <a:br/>
            <a:r>
              <a:t>kitchen stoves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BEFORE vs. AFTER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700016"/>
            <a:ext cx="5394960" cy="1508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0160">
            <a:solidFill>
              <a:srgbClr val="B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700016"/>
            <a:ext cx="91440" cy="150876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773168"/>
            <a:ext cx="508406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A1A1A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175504"/>
            <a:ext cx="508406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Mixed Waste -&gt; 40% Error -&gt; Rs.80k Hauling -&gt; Landfill + Rs.50k Fine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4700016"/>
            <a:ext cx="5406847" cy="1508760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4700016"/>
            <a:ext cx="91440" cy="1508760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77316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05B34"/>
                </a:solidFill>
                <a:latin typeface="Arial"/>
              </a:defRPr>
            </a:pPr>
            <a:r>
              <a:t>AFTER  (EcoBin)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175504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Single Drop -&gt; AI Sorts -&gt; Biogas to Kitchen -&gt; Rs.1L+ Saved Monthly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EcoBin Hardware: Plug-and-Play Smart Waste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Installs in 3-5 days. No civil work. Modular for 100-500 kg/day.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36192"/>
            <a:ext cx="5212080" cy="479145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_n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09344"/>
            <a:ext cx="5065776" cy="41879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5833872"/>
            <a:ext cx="5065776" cy="365760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5879592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005B34"/>
                </a:solidFill>
                <a:latin typeface="Arial"/>
              </a:defRPr>
            </a:pPr>
            <a:r>
              <a:t>EcoBin Autonomous Hardware Node  |  100–500 kg/day Modular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36192"/>
            <a:ext cx="2724912" cy="22311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536192"/>
            <a:ext cx="91440" cy="223113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19072"/>
            <a:ext cx="241401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0284C7"/>
                </a:solidFill>
                <a:latin typeface="Arial"/>
              </a:defRPr>
            </a:pPr>
            <a:r>
              <a:t>AI Vision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04288"/>
            <a:ext cx="241401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ESP32-S3 + YOLOv8</a:t>
            </a:r>
            <a:br/>
            <a:r>
              <a:t>&lt;150ms  |  &gt;98%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536192"/>
            <a:ext cx="2724912" cy="22311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1536192"/>
            <a:ext cx="91440" cy="2231136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1719072"/>
            <a:ext cx="241401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137547"/>
                </a:solidFill>
                <a:latin typeface="Arial"/>
              </a:defRPr>
            </a:pPr>
            <a:r>
              <a:t>Bio-Digestion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304288"/>
            <a:ext cx="241401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Mesophilic 37C dome</a:t>
            </a:r>
            <a:br/>
            <a:r>
              <a:t>Auto pH anti-souring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986784"/>
            <a:ext cx="2724912" cy="22311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986784"/>
            <a:ext cx="91440" cy="22311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169664"/>
            <a:ext cx="241401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B45309"/>
                </a:solidFill>
                <a:latin typeface="Arial"/>
              </a:defRPr>
            </a:pPr>
            <a:r>
              <a:t>Free Cooking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754880"/>
            <a:ext cx="241401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65% CH4 purity</a:t>
            </a:r>
            <a:br/>
            <a:r>
              <a:t>Piped to kitchen stoves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3986784"/>
            <a:ext cx="2724912" cy="22311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3688" y="3986784"/>
            <a:ext cx="91440" cy="2231136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7" y="4169664"/>
            <a:ext cx="2414016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005B34"/>
                </a:solidFill>
                <a:latin typeface="Arial"/>
              </a:defRPr>
            </a:pPr>
            <a:r>
              <a:t>Clean Recyclables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4754880"/>
            <a:ext cx="241401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1A1C1B"/>
                </a:solidFill>
                <a:latin typeface="Arial"/>
              </a:defRPr>
            </a:pPr>
            <a:r>
              <a:t>Dry bales: PET, paper</a:t>
            </a:r>
            <a:br/>
            <a:r>
              <a:t>Sold to industrial mills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Rs. 14,200 Cr Market — 1.2 Lakh Generators Legally Mandated to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Bottom-up sizing. Every bulk waste generator &gt;100 kg/day must comply with SWM 2016.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91440" cy="2103120"/>
          </a:xfrm>
          <a:prstGeom prst="rect">
            <a:avLst/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A1C1B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64208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1A1C1B"/>
                </a:solidFill>
                <a:latin typeface="Arial"/>
              </a:defRPr>
            </a:pPr>
            <a:r>
              <a:t>Rs. 14,200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9424"/>
            <a:ext cx="327355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1,20,000 bulk waste generators</a:t>
            </a:r>
            <a:br/>
            <a:r>
              <a:t>across urban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72384"/>
            <a:ext cx="32735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1">
                <a:solidFill>
                  <a:srgbClr val="646E6B"/>
                </a:solidFill>
                <a:latin typeface="Arial"/>
              </a:defRPr>
            </a:pPr>
            <a:r>
              <a:t>120k x Rs.1.18L avg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572768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7" y="1572768"/>
            <a:ext cx="91440" cy="2103120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5" y="1700784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137547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7" y="1664208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137547"/>
                </a:solidFill>
                <a:latin typeface="Arial"/>
              </a:defRPr>
            </a:pPr>
            <a:r>
              <a:t>Rs. 3,200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249424"/>
            <a:ext cx="327355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25,000 universities &amp; gated societies</a:t>
            </a:r>
            <a:br/>
            <a:r>
              <a:t>in Tier-1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5" y="3072384"/>
            <a:ext cx="32735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1">
                <a:solidFill>
                  <a:srgbClr val="646E6B"/>
                </a:solidFill>
                <a:latin typeface="Arial"/>
              </a:defRPr>
            </a:pPr>
            <a:r>
              <a:t>25k x Rs.1.28L avg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572768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C8F0DA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1572768"/>
            <a:ext cx="91440" cy="2103120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700784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 i="0">
                <a:solidFill>
                  <a:srgbClr val="005B34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1664208"/>
            <a:ext cx="21031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005B34"/>
                </a:solidFill>
                <a:latin typeface="Arial"/>
              </a:defRPr>
            </a:pPr>
            <a:r>
              <a:t>Rs. 95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249424"/>
            <a:ext cx="327355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800 beachhead deployments</a:t>
            </a:r>
            <a:br/>
            <a:r>
              <a:t>Delhi-NCR &amp; Bengaluru (3-yr)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072384"/>
            <a:ext cx="32735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1">
                <a:solidFill>
                  <a:srgbClr val="646E6B"/>
                </a:solidFill>
                <a:latin typeface="Arial"/>
              </a:defRPr>
            </a:pPr>
            <a:r>
              <a:t>800 hubs x Rs.12L ARR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22191"/>
            <a:ext cx="11094415" cy="274320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86200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GO-TO-MARKET EXECUTION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87952"/>
            <a:ext cx="2606040" cy="2249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87952"/>
            <a:ext cx="91440" cy="2249424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232257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05B34"/>
                </a:solidFill>
                <a:latin typeface="Arial"/>
              </a:defRPr>
            </a:pPr>
            <a:r>
              <a:t>Stage 1</a:t>
            </a:r>
            <a:br/>
            <a:r>
              <a:t>Month 0-6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64608"/>
            <a:ext cx="2322576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Prototype Build</a:t>
            </a:r>
            <a:br/>
            <a:r>
              <a:t>&amp; Pilot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63824" y="502920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187952"/>
            <a:ext cx="2606040" cy="2249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01568" y="4187952"/>
            <a:ext cx="91440" cy="2249424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4297680"/>
            <a:ext cx="232257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137547"/>
                </a:solidFill>
                <a:latin typeface="Arial"/>
              </a:defRPr>
            </a:pPr>
            <a:r>
              <a:t>Stage 2</a:t>
            </a:r>
            <a:br/>
            <a:r>
              <a:t>Month 6-12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4864608"/>
            <a:ext cx="2322576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20 university</a:t>
            </a:r>
            <a:br/>
            <a:r>
              <a:t>campuses (NCR)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502920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4187952"/>
            <a:ext cx="2606040" cy="2249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4187952"/>
            <a:ext cx="91440" cy="224942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4297680"/>
            <a:ext cx="232257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B45309"/>
                </a:solidFill>
                <a:latin typeface="Arial"/>
              </a:defRPr>
            </a:pPr>
            <a:r>
              <a:t>Stage 3</a:t>
            </a:r>
            <a:br/>
            <a:r>
              <a:t>Month 12-24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4864608"/>
            <a:ext cx="2322576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150 gated societies</a:t>
            </a:r>
            <a:br/>
            <a:r>
              <a:t>JLL/CBRE channel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02920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D6DED8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07424" y="4187952"/>
            <a:ext cx="2606040" cy="2249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07424" y="4187952"/>
            <a:ext cx="91440" cy="224942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3" y="4297680"/>
            <a:ext cx="2322576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 i="0">
                <a:solidFill>
                  <a:srgbClr val="0284C7"/>
                </a:solidFill>
                <a:latin typeface="Arial"/>
              </a:defRPr>
            </a:pPr>
            <a:r>
              <a:t>Stage 4</a:t>
            </a:r>
            <a:br/>
            <a:r>
              <a:t>Year 2+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3" y="4864608"/>
            <a:ext cx="2322576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800 nodes</a:t>
            </a:r>
            <a:br/>
            <a:r>
              <a:t>Series A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ARCHITECTURE &amp; PILOT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Engineered Unit Capacity &amp; Projected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Target operational specifications designed for standard higher-ed campuses: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2606040" cy="1975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2606040" cy="91440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239572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 i="0">
                <a:solidFill>
                  <a:srgbClr val="005B34"/>
                </a:solidFill>
                <a:latin typeface="Arial"/>
              </a:defRPr>
            </a:pPr>
            <a:r>
              <a:t>250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7860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 i="0">
                <a:solidFill>
                  <a:srgbClr val="646E6B"/>
                </a:solidFill>
                <a:latin typeface="Arial"/>
              </a:defRPr>
            </a:pPr>
            <a:r>
              <a:t>food waste</a:t>
            </a:r>
            <a:br/>
            <a:r>
              <a:t>daily capacity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572768"/>
            <a:ext cx="2606040" cy="1975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572768"/>
            <a:ext cx="2606040" cy="91440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755648"/>
            <a:ext cx="239572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 i="0">
                <a:solidFill>
                  <a:srgbClr val="137547"/>
                </a:solidFill>
                <a:latin typeface="Arial"/>
              </a:defRPr>
            </a:pPr>
            <a:r>
              <a:t>28 LPG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57860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 i="0">
                <a:solidFill>
                  <a:srgbClr val="646E6B"/>
                </a:solidFill>
                <a:latin typeface="Arial"/>
              </a:defRPr>
            </a:pPr>
            <a:r>
              <a:t>cylinders replaced</a:t>
            </a:r>
            <a:br/>
            <a:r>
              <a:t>projected per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572768"/>
            <a:ext cx="2606040" cy="1975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572768"/>
            <a:ext cx="26060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755648"/>
            <a:ext cx="239572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 i="0">
                <a:solidFill>
                  <a:srgbClr val="0284C7"/>
                </a:solidFill>
                <a:latin typeface="Arial"/>
              </a:defRPr>
            </a:pPr>
            <a:r>
              <a:t>&gt;95%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57860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 i="0">
                <a:solidFill>
                  <a:srgbClr val="646E6B"/>
                </a:solidFill>
                <a:latin typeface="Arial"/>
              </a:defRPr>
            </a:pPr>
            <a:r>
              <a:t>machine vision</a:t>
            </a:r>
            <a:br/>
            <a:r>
              <a:t>sorting precision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572768"/>
            <a:ext cx="2606040" cy="1975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572768"/>
            <a:ext cx="2606040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755648"/>
            <a:ext cx="239572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200" b="1" i="0">
                <a:solidFill>
                  <a:srgbClr val="B45309"/>
                </a:solidFill>
                <a:latin typeface="Arial"/>
              </a:defRPr>
            </a:pPr>
            <a:r>
              <a:t>Rs. 1L+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57860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0" i="0">
                <a:solidFill>
                  <a:srgbClr val="646E6B"/>
                </a:solidFill>
                <a:latin typeface="Arial"/>
              </a:defRPr>
            </a:pPr>
            <a:r>
              <a:t>net savings per</a:t>
            </a:r>
            <a:br/>
            <a:r>
              <a:t>campus per month (est.)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11094415" cy="256032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49039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KEY ENGINEERING &amp; PILOT TARGETS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59936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  Dual-stream automated diverter: dry recyclables to baler, food scraps to macerator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53712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37547"/>
                </a:solidFill>
                <a:latin typeface="Arial"/>
              </a:defRPr>
            </a:pPr>
            <a:r>
              <a:t>  Mesophilic 37°C anaerobic reactor with automated pH buffering against acid souring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  Direct methane piping (65% CH4) designed to replace commercial 19kg mess LPG cylinders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41264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0">
                <a:solidFill>
                  <a:srgbClr val="137547"/>
                </a:solidFill>
                <a:latin typeface="Arial"/>
              </a:defRPr>
            </a:pPr>
            <a:r>
              <a:t>  Sub-150ms sensor fusion (Sony IMX vision, dielectric moisture, inductive metal)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035040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284C7"/>
                </a:solidFill>
                <a:latin typeface="Arial"/>
              </a:defRPr>
            </a:pPr>
            <a:r>
              <a:t>  100% compliant with Ministry of Environment SWM 2016 bulk generator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47104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 i="1">
                <a:solidFill>
                  <a:srgbClr val="646E6B"/>
                </a:solidFill>
                <a:latin typeface="Arial"/>
              </a:defRPr>
            </a:pPr>
            <a:r>
              <a:t>Source: EcoBin Systems Architecture &amp; Pilot Engineering Benchmarks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BUSINESS MODEL &amp;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Hardware Sale + Sticky Monthly Retainer = 16-20 Month Payback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Customer recovers full capital cost in &lt;20 months purely from operational savings.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961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HOW ECOBIN MAKES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60320" cy="1417320"/>
          </a:xfrm>
          <a:prstGeom prst="roundRect">
            <a:avLst>
              <a:gd name="adj" fmla="val 3000"/>
            </a:avLst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56816"/>
            <a:ext cx="234086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Campus / RWA</a:t>
            </a:r>
            <a:br/>
            <a:r>
              <a:t>Pays EcoBin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233172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828800"/>
            <a:ext cx="2560320" cy="1417320"/>
          </a:xfrm>
          <a:prstGeom prst="roundRect">
            <a:avLst>
              <a:gd name="adj" fmla="val 3000"/>
            </a:avLst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956816"/>
            <a:ext cx="234086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Hardware CapEx</a:t>
            </a:r>
            <a:br/>
            <a:r>
              <a:t>Rs. 3L - 8L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736" y="233172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828800"/>
            <a:ext cx="2560320" cy="1417320"/>
          </a:xfrm>
          <a:prstGeom prst="roundRect">
            <a:avLst>
              <a:gd name="adj" fmla="val 3000"/>
            </a:avLst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956816"/>
            <a:ext cx="234086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Monthly AMC</a:t>
            </a:r>
            <a:br/>
            <a:r>
              <a:t>Rs. 5k-10k  |  65%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2331720"/>
            <a:ext cx="274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 i="0">
                <a:solidFill>
                  <a:srgbClr val="80D9A1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828800"/>
            <a:ext cx="2560320" cy="1417320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956816"/>
            <a:ext cx="2340864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Recyclable</a:t>
            </a:r>
            <a:br/>
            <a:r>
              <a:t>Offtake +Rs. 15k/mo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CAMPUS UNIT ECONOMICS (250 kg/day)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13048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Hauling Contracts Eliminated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130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Rs. 45,000 / 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87952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51960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LPG Cylinders Replaced (28 nos)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519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0" i="0">
                <a:solidFill>
                  <a:srgbClr val="1A1C1B"/>
                </a:solidFill>
                <a:latin typeface="Arial"/>
              </a:defRPr>
            </a:pPr>
            <a:r>
              <a:t>Rs. 56,000 / 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26864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69087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137547"/>
                </a:solidFill>
                <a:latin typeface="Arial"/>
              </a:defRPr>
            </a:pPr>
            <a:r>
              <a:t>Recyclable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69087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0" i="0">
                <a:solidFill>
                  <a:srgbClr val="137547"/>
                </a:solidFill>
                <a:latin typeface="Arial"/>
              </a:defRPr>
            </a:pPr>
            <a:r>
              <a:t>+ Rs. 6,500 / 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65775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129783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BA1A1A"/>
                </a:solidFill>
                <a:latin typeface="Arial"/>
              </a:defRPr>
            </a:pPr>
            <a:r>
              <a:t>EcoBin AMC Fee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29783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50" b="0" i="0">
                <a:solidFill>
                  <a:srgbClr val="BA1A1A"/>
                </a:solidFill>
                <a:latin typeface="Arial"/>
              </a:defRPr>
            </a:pPr>
            <a:r>
              <a:t>- Rs. 7,500 / 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04688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568696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NET MONTHLY SAVING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56869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Rs. 1,00,000 / 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43600"/>
            <a:ext cx="8321040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007608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Capital Payback Period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600760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 i="0">
                <a:solidFill>
                  <a:srgbClr val="005B34"/>
                </a:solidFill>
                <a:latin typeface="Arial"/>
              </a:defRPr>
            </a:pPr>
            <a:r>
              <a:t>16-20 months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62288" y="3749039"/>
            <a:ext cx="2468880" cy="8046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3803903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05B34"/>
                </a:solidFill>
                <a:latin typeface="Arial"/>
              </a:defRPr>
            </a:pPr>
            <a:r>
              <a:t>38-42%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1879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646E6B"/>
                </a:solidFill>
                <a:latin typeface="Arial"/>
              </a:defRPr>
            </a:pPr>
            <a:r>
              <a:t>Hardware Margin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62288" y="4663440"/>
            <a:ext cx="2468880" cy="8046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718303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137547"/>
                </a:solidFill>
                <a:latin typeface="Arial"/>
              </a:defRPr>
            </a:pPr>
            <a:r>
              <a:t>65-70%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1023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646E6B"/>
                </a:solidFill>
                <a:latin typeface="Arial"/>
              </a:defRPr>
            </a:pPr>
            <a:r>
              <a:t>AMC Margin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62288" y="5577840"/>
            <a:ext cx="2468880" cy="8046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5632703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 i="0">
                <a:solidFill>
                  <a:srgbClr val="0284C7"/>
                </a:solidFill>
                <a:latin typeface="Arial"/>
              </a:defRPr>
            </a:pPr>
            <a:r>
              <a:t>&gt;6.8x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6016752"/>
            <a:ext cx="2322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646E6B"/>
                </a:solidFill>
                <a:latin typeface="Arial"/>
              </a:defRPr>
            </a:pPr>
            <a:r>
              <a:t>LTV / CAC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COMPETITION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No One Combines AI Sorting + On-Site Biogas. EcoBin Owns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Competitors solve one piece. EcoBin solves the complete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2816352" cy="420624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5506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1A1C1B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572768"/>
            <a:ext cx="1755648" cy="420624"/>
          </a:xfrm>
          <a:prstGeom prst="roundRect">
            <a:avLst>
              <a:gd name="adj" fmla="val 3000"/>
            </a:avLst>
          </a:prstGeom>
          <a:solidFill>
            <a:srgbClr val="005B34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296" y="165506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EcoBin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1572768"/>
            <a:ext cx="1755648" cy="420624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0096" y="165506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1A1C1B"/>
                </a:solidFill>
                <a:latin typeface="Arial"/>
              </a:defRPr>
            </a:pPr>
            <a:r>
              <a:t>Manual 2-Bin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5744" y="1572768"/>
            <a:ext cx="1755648" cy="420624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8896" y="165506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1A1C1B"/>
                </a:solidFill>
                <a:latin typeface="Arial"/>
              </a:defRPr>
            </a:pPr>
            <a:r>
              <a:t>Compost Pit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4544" y="1572768"/>
            <a:ext cx="1755648" cy="420624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65506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1A1C1B"/>
                </a:solidFill>
                <a:latin typeface="Arial"/>
              </a:defRPr>
            </a:pPr>
            <a:r>
              <a:t>Old Biogas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29968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093976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AI Auto-Sorting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202996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209397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 &lt;150ms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202996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09397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5744" y="202996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8896" y="209397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None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02996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209397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468880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532888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On-Site Biogas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2468880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2532888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66944" y="2468880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0096" y="2532888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95744" y="2468880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8896" y="2532888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24544" y="2468880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97696" y="2532888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45309"/>
                </a:solidFill>
                <a:latin typeface="Arial"/>
              </a:defRPr>
            </a:pPr>
            <a:r>
              <a:t>RISK Unstable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907792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2971800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Zero Human Sorting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38144" y="2907792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11296" y="297180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66944" y="2907792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0096" y="297180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40% fail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95744" y="2907792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8896" y="297180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Manual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24544" y="2907792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7696" y="297180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 Manual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346704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410712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SWM 2016 Compliant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38144" y="3346704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1296" y="34107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 Full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66944" y="3346704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0096" y="34107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45309"/>
                </a:solidFill>
                <a:latin typeface="Arial"/>
              </a:defRPr>
            </a:pPr>
            <a:r>
              <a:t>PART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95744" y="3346704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68896" y="34107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45309"/>
                </a:solidFill>
                <a:latin typeface="Arial"/>
              </a:defRPr>
            </a:pPr>
            <a:r>
              <a:t>PART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4544" y="3346704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97696" y="34107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45309"/>
                </a:solidFill>
                <a:latin typeface="Arial"/>
              </a:defRPr>
            </a:pPr>
            <a:r>
              <a:t>PART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3785616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384962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Rs.1L+/mo Saving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38144" y="3785616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11296" y="384962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66944" y="3785616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0096" y="384962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95744" y="3785616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68896" y="384962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24544" y="3785616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97696" y="3849624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224528"/>
            <a:ext cx="2816352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4288536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 i="0">
                <a:solidFill>
                  <a:srgbClr val="1A1C1B"/>
                </a:solidFill>
                <a:latin typeface="Arial"/>
              </a:defRPr>
            </a:pPr>
            <a:r>
              <a:t>Anti-Souring Control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38144" y="422452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11296" y="428853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5B34"/>
                </a:solidFill>
                <a:latin typeface="Arial"/>
              </a:defRPr>
            </a:pPr>
            <a:r>
              <a:t>YES Auto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266944" y="422452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0096" y="428853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95744" y="422452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68896" y="428853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24544" y="4224528"/>
            <a:ext cx="1755648" cy="40233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97696" y="428853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 i="0">
                <a:solidFill>
                  <a:srgbClr val="BA1A1A"/>
                </a:solidFill>
                <a:latin typeface="Arial"/>
              </a:defRPr>
            </a:pPr>
            <a:r>
              <a:t>NO Manual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791456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OUR 4 COMPETITIVE MOATS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5102352"/>
            <a:ext cx="2651760" cy="15361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5102352"/>
            <a:ext cx="91440" cy="15361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193792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284C7"/>
                </a:solidFill>
                <a:latin typeface="Arial"/>
              </a:defRPr>
            </a:pPr>
            <a:r>
              <a:t>Proprietary</a:t>
            </a:r>
            <a:br/>
            <a:r>
              <a:t>AI Dataset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742432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A1C1B"/>
                </a:solidFill>
                <a:latin typeface="Arial"/>
              </a:defRPr>
            </a:pPr>
            <a:r>
              <a:t>20k+ real waste images,</a:t>
            </a:r>
            <a:br/>
            <a:r>
              <a:t>growing with every node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401568" y="5102352"/>
            <a:ext cx="2651760" cy="15361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01568" y="5102352"/>
            <a:ext cx="91440" cy="1536192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84448" y="5193792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137547"/>
                </a:solidFill>
                <a:latin typeface="Arial"/>
              </a:defRPr>
            </a:pPr>
            <a:r>
              <a:t>Anti-Souring</a:t>
            </a:r>
            <a:br/>
            <a:r>
              <a:t>Bioprocess 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4448" y="5742432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A1C1B"/>
                </a:solidFill>
                <a:latin typeface="Arial"/>
              </a:defRPr>
            </a:pPr>
            <a:r>
              <a:t>Auto pH dosing loop —</a:t>
            </a:r>
            <a:br/>
            <a:r>
              <a:t>no competitor has this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54496" y="5102352"/>
            <a:ext cx="2651760" cy="15361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54496" y="5102352"/>
            <a:ext cx="91440" cy="1536192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37376" y="5193792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005B34"/>
                </a:solidFill>
                <a:latin typeface="Arial"/>
              </a:defRPr>
            </a:pPr>
            <a:r>
              <a:t>Utility</a:t>
            </a:r>
            <a:br/>
            <a:r>
              <a:t>Lock-In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37376" y="5742432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A1C1B"/>
                </a:solidFill>
                <a:latin typeface="Arial"/>
              </a:defRPr>
            </a:pPr>
            <a:r>
              <a:t>Gas pipes = sticky.</a:t>
            </a:r>
            <a:br/>
            <a:r>
              <a:t>&lt;1.5% annual churn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07424" y="5102352"/>
            <a:ext cx="2651760" cy="15361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07424" y="5102352"/>
            <a:ext cx="91440" cy="15361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90303" y="5193792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B45309"/>
                </a:solidFill>
                <a:latin typeface="Arial"/>
              </a:defRPr>
            </a:pPr>
            <a:r>
              <a:t>Regulatory</a:t>
            </a:r>
            <a:br/>
            <a:r>
              <a:t>Alignment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90303" y="5742432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0" i="0">
                <a:solidFill>
                  <a:srgbClr val="1A1C1B"/>
                </a:solidFill>
                <a:latin typeface="Arial"/>
              </a:defRPr>
            </a:pPr>
            <a:r>
              <a:t>100% SWM 2016 compliant</a:t>
            </a:r>
            <a:br/>
            <a:r>
              <a:t>on-site bio-utility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 i="0">
                <a:solidFill>
                  <a:srgbClr val="005B34"/>
                </a:solidFill>
                <a:latin typeface="Arial"/>
              </a:defRPr>
            </a:pPr>
            <a:r>
              <a:t>THE TEAM &amp; INVESTMENT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0728655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A1C1B"/>
                </a:solidFill>
                <a:latin typeface="Arial"/>
              </a:defRPr>
            </a:pPr>
            <a:r>
              <a:t>Raising Rs. 1.5 Cr Seed to Deploy Across 20 Target Campuses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 i="1">
                <a:solidFill>
                  <a:srgbClr val="646E6B"/>
                </a:solidFill>
                <a:latin typeface="Arial"/>
              </a:defRPr>
            </a:pPr>
            <a:r>
              <a:t>Domain-first team. Clear milestones. Every rupee de-risks a specific technical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36192"/>
            <a:ext cx="5303520" cy="47914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TEAM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29968"/>
            <a:ext cx="4974336" cy="76809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29968"/>
            <a:ext cx="73152" cy="7680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12264"/>
            <a:ext cx="46817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284C7"/>
                </a:solidFill>
                <a:latin typeface="Arial"/>
              </a:defRPr>
            </a:pPr>
            <a:r>
              <a:t>Embedded Systems &amp; Firmware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ESP32-S3  |  FreeRTOS  |  OTA  |  Edge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89504"/>
            <a:ext cx="4974336" cy="76809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889504"/>
            <a:ext cx="73152" cy="768096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71800"/>
            <a:ext cx="46817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05B34"/>
                </a:solidFill>
                <a:latin typeface="Arial"/>
              </a:defRPr>
            </a:pPr>
            <a:r>
              <a:t>Computer Vision &amp;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64992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YOLOv8  |  TFLite  |  Custom 20k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49039"/>
            <a:ext cx="4974336" cy="76809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749039"/>
            <a:ext cx="73152" cy="768096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831335"/>
            <a:ext cx="46817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37547"/>
                </a:solidFill>
                <a:latin typeface="Arial"/>
              </a:defRPr>
            </a:pPr>
            <a:r>
              <a:t>Anaerobic Bio-Process Eng.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7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Biogas  |  VFA Monitoring  |  pH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08576"/>
            <a:ext cx="4974336" cy="76809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608576"/>
            <a:ext cx="73152" cy="76809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690872"/>
            <a:ext cx="46817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45309"/>
                </a:solidFill>
                <a:latin typeface="Arial"/>
              </a:defRPr>
            </a:pPr>
            <a:r>
              <a:t>Institutional B2B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084064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Campus Admin  |  SWM Compliance  |  GTM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468112"/>
            <a:ext cx="4974336" cy="768096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1A1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468112"/>
            <a:ext cx="73152" cy="768096"/>
          </a:xfrm>
          <a:prstGeom prst="rect">
            <a:avLst/>
          </a:prstGeom>
          <a:solidFill>
            <a:srgbClr val="1A1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550408"/>
            <a:ext cx="468172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A1C1B"/>
                </a:solidFill>
                <a:latin typeface="Arial"/>
              </a:defRPr>
            </a:pPr>
            <a:r>
              <a:t>Hardware &amp; Manufacturing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943600"/>
            <a:ext cx="4681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Fabrication  |  Modular Design  |  BoM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536192"/>
            <a:ext cx="5562295" cy="47914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166420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646E6B"/>
                </a:solidFill>
                <a:latin typeface="Arial"/>
              </a:defRPr>
            </a:pPr>
            <a:r>
              <a:t>MILESTONE LADDER  —  USE OF FUNDS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2011680"/>
            <a:ext cx="5212080" cy="804672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084831"/>
            <a:ext cx="4992624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005B34"/>
                </a:solidFill>
                <a:latin typeface="Arial"/>
              </a:defRPr>
            </a:pPr>
            <a:r>
              <a:t>RAISING: Rs. 1.5 Cr SEED 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487168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 i="0">
                <a:solidFill>
                  <a:srgbClr val="1A1C1B"/>
                </a:solidFill>
                <a:latin typeface="Arial"/>
              </a:defRPr>
            </a:pPr>
            <a:r>
              <a:t>12-month runway  |  20 campuses  |  Rs. 1.2 Cr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2944368"/>
            <a:ext cx="5212080" cy="102412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2944368"/>
            <a:ext cx="91440" cy="10241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28232" y="3090672"/>
            <a:ext cx="384048" cy="274320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309067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2864" y="3054096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 i="0">
                <a:solidFill>
                  <a:srgbClr val="0284C7"/>
                </a:solidFill>
                <a:latin typeface="Arial"/>
              </a:defRPr>
            </a:pPr>
            <a:r>
              <a:t>Rs. 35L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09067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Month 0-3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3438144"/>
            <a:ext cx="49194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1A1C1B"/>
                </a:solidFill>
                <a:latin typeface="Arial"/>
              </a:defRPr>
            </a:pPr>
            <a:r>
              <a:t>Gen-2 hardware finalized</a:t>
            </a:r>
            <a:br/>
            <a:r>
              <a:t>BIS certifications done</a:t>
            </a:r>
            <a:br/>
            <a:r>
              <a:t>Risk: scaling proven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98678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0284C7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4059936"/>
            <a:ext cx="5212080" cy="102412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137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4059936"/>
            <a:ext cx="91440" cy="1024128"/>
          </a:xfrm>
          <a:prstGeom prst="rect">
            <a:avLst/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28232" y="4206240"/>
            <a:ext cx="384048" cy="274320"/>
          </a:xfrm>
          <a:prstGeom prst="roundRect">
            <a:avLst>
              <a:gd name="adj" fmla="val 4000"/>
            </a:avLst>
          </a:prstGeom>
          <a:solidFill>
            <a:srgbClr val="137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20624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2864" y="4169664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 i="0">
                <a:solidFill>
                  <a:srgbClr val="137547"/>
                </a:solidFill>
                <a:latin typeface="Arial"/>
              </a:defRPr>
            </a:pPr>
            <a:r>
              <a:t>Rs. 70L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7616" y="42062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Month 3-9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4553712"/>
            <a:ext cx="49194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1A1C1B"/>
                </a:solidFill>
                <a:latin typeface="Arial"/>
              </a:defRPr>
            </a:pPr>
            <a:r>
              <a:t>20 campus hubs deployed</a:t>
            </a:r>
            <a:br/>
            <a:r>
              <a:t>3-person sales team hired</a:t>
            </a:r>
            <a:br/>
            <a:r>
              <a:t>Target: Rs. 12L ARR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102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 i="0">
                <a:solidFill>
                  <a:srgbClr val="137547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5352" y="5175504"/>
            <a:ext cx="5212080" cy="1024128"/>
          </a:xfrm>
          <a:prstGeom prst="roundRect">
            <a:avLst>
              <a:gd name="adj" fmla="val 3000"/>
            </a:avLst>
          </a:prstGeom>
          <a:solidFill>
            <a:srgbClr val="F4F5F3"/>
          </a:solidFill>
          <a:ln w="10160">
            <a:solidFill>
              <a:srgbClr val="005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45352" y="5175504"/>
            <a:ext cx="91440" cy="1024128"/>
          </a:xfrm>
          <a:prstGeom prst="rect">
            <a:avLst/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28232" y="5321808"/>
            <a:ext cx="384048" cy="274320"/>
          </a:xfrm>
          <a:prstGeom prst="roundRect">
            <a:avLst>
              <a:gd name="adj" fmla="val 4000"/>
            </a:avLst>
          </a:prstGeom>
          <a:solidFill>
            <a:srgbClr val="005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2" y="532180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2864" y="528523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 i="0">
                <a:solidFill>
                  <a:srgbClr val="005B34"/>
                </a:solidFill>
                <a:latin typeface="Arial"/>
              </a:defRPr>
            </a:pPr>
            <a:r>
              <a:t>Rs. 45L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57616" y="532180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 i="0">
                <a:solidFill>
                  <a:srgbClr val="646E6B"/>
                </a:solidFill>
                <a:latin typeface="Arial"/>
              </a:defRPr>
            </a:pPr>
            <a:r>
              <a:t>Month 9-18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232" y="5669280"/>
            <a:ext cx="49194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1A1C1B"/>
                </a:solidFill>
                <a:latin typeface="Arial"/>
              </a:defRPr>
            </a:pPr>
            <a:r>
              <a:t>NCR assembly hub opened</a:t>
            </a:r>
            <a:br/>
            <a:r>
              <a:t>JLL/CBRE channel signed</a:t>
            </a:r>
            <a:br/>
            <a:r>
              <a:t>Target: 100 nodes, Series 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731520"/>
            <a:ext cx="9994392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6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170432"/>
            <a:ext cx="85313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005B34"/>
                </a:solidFill>
                <a:latin typeface="Arial"/>
              </a:defRPr>
            </a:pPr>
            <a:r>
              <a:t>DECENTRALIZED URBAN BIO-UTILITY  |  SEED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72768"/>
            <a:ext cx="85313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0" b="1" i="0">
                <a:solidFill>
                  <a:srgbClr val="005B34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90672"/>
            <a:ext cx="853135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 i="0">
                <a:solidFill>
                  <a:srgbClr val="1A1C1B"/>
                </a:solidFill>
                <a:latin typeface="Arial"/>
              </a:defRPr>
            </a:pPr>
            <a:r>
              <a:t>EcoBin  —  "Throw Waste. Create Energy."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749039"/>
            <a:ext cx="5239512" cy="36576"/>
          </a:xfrm>
          <a:prstGeom prst="rect">
            <a:avLst/>
          </a:prstGeom>
          <a:solidFill>
            <a:srgbClr val="80D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3913632"/>
            <a:ext cx="7616952" cy="1664208"/>
          </a:xfrm>
          <a:prstGeom prst="roundRect">
            <a:avLst>
              <a:gd name="adj" fmla="val 3000"/>
            </a:avLst>
          </a:prstGeom>
          <a:solidFill>
            <a:srgbClr val="ECF8F1"/>
          </a:solidFill>
          <a:ln w="10160">
            <a:solidFill>
              <a:srgbClr val="80D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4078224"/>
            <a:ext cx="743407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 i="0">
                <a:solidFill>
                  <a:srgbClr val="005B34"/>
                </a:solidFill>
                <a:latin typeface="Arial"/>
              </a:defRPr>
            </a:pPr>
            <a:r>
              <a:t>echobin.vercel.app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535424"/>
            <a:ext cx="7434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1A1C1B"/>
                </a:solidFill>
                <a:latin typeface="Arial"/>
              </a:defRPr>
            </a:pPr>
            <a:r>
              <a:t>contact@ecobin.tech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956048"/>
            <a:ext cx="74340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 i="1">
                <a:solidFill>
                  <a:srgbClr val="646E6B"/>
                </a:solidFill>
                <a:latin typeface="Arial"/>
              </a:defRPr>
            </a:pPr>
            <a:r>
              <a:t>Open for institutional pilots, municipal partnerships &amp; strategic collaborations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